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PII Detection &amp; Masking</a:t>
            </a:r>
          </a:p>
        </p:txBody>
      </p:sp>
      <p:sp>
        <p:nvSpPr>
          <p:cNvPr id="4" name="TextBox 3"/>
          <p:cNvSpPr txBox="1"/>
          <p:nvPr/>
        </p:nvSpPr>
        <p:spPr>
          <a:xfrm>
            <a:off x="365760" y="731520"/>
            <a:ext cx="6583680" cy="1371600"/>
          </a:xfrm>
          <a:prstGeom prst="rect">
            <a:avLst/>
          </a:prstGeom>
          <a:noFill/>
        </p:spPr>
        <p:txBody>
          <a:bodyPr wrap="square">
            <a:spAutoFit/>
          </a:bodyPr>
          <a:lstStyle/>
          <a:p>
            <a:pPr>
              <a:spcAft>
                <a:spcPts val="400"/>
              </a:spcAft>
              <a:defRPr sz="1100">
                <a:solidFill>
                  <a:srgbClr val="FFFFFF"/>
                </a:solidFill>
                <a:latin typeface="Segoe UI"/>
              </a:defRPr>
            </a:pPr>
            <a:r>
              <a:t>A company is collecting data in an Amazon S3 data lake that includes personally identifiable information (PII). They need an automated solution to identify PII in new and existing data, provide an overview of findings, and invoke a masking application in real time when PII is found.</a:t>
            </a:r>
            <a:br/>
            <a:br/>
            <a:r>
              <a:t>Which solution meets these requirements with the LEAST operational overhead?</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Create an AWS Lambda function to analyze data for PII. Configure S3 bucket notifications to invoke the Lambda when a new object is uploaded.</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Configure S3 bucket notifications with an Amazon EventBridge rule for new object uploads. Set the masking application as the target.</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Enable Amazon Macie. Create an EventBridge rule for Macie findings. Set the masking application as the target.</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Enable Amazon Macie. Create a Lambda function on a schedule to poll Macie findings and invoke the masking application.</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Create an AWS Lambda function to analyze data for PII. Configure S3 bucket notifications to invoke the Lambda when a new object is uploaded.</a:t>
            </a:r>
          </a:p>
        </p:txBody>
      </p:sp>
      <p:pic>
        <p:nvPicPr>
          <p:cNvPr id="5" name="Picture 4" descr="option_a_custom_lambda.png"/>
          <p:cNvPicPr>
            <a:picLocks noChangeAspect="1"/>
          </p:cNvPicPr>
          <p:nvPr/>
        </p:nvPicPr>
        <p:blipFill>
          <a:blip r:embed="rId2"/>
          <a:stretch>
            <a:fillRect/>
          </a:stretch>
        </p:blipFill>
        <p:spPr>
          <a:xfrm>
            <a:off x="182880" y="1623353"/>
            <a:ext cx="5303520" cy="2056813"/>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Requires building and maintaining custom PII detection logic</a:t>
            </a:r>
          </a:p>
          <a:p>
            <a:pPr>
              <a:spcAft>
                <a:spcPts val="600"/>
              </a:spcAft>
              <a:defRPr sz="900">
                <a:solidFill>
                  <a:srgbClr val="263238"/>
                </a:solidFill>
                <a:latin typeface="Segoe UI"/>
              </a:defRPr>
            </a:pPr>
            <a:r>
              <a:t>• Only scans new uploads, not existing data</a:t>
            </a:r>
          </a:p>
          <a:p>
            <a:pPr>
              <a:spcAft>
                <a:spcPts val="600"/>
              </a:spcAft>
              <a:defRPr sz="900">
                <a:solidFill>
                  <a:srgbClr val="263238"/>
                </a:solidFill>
                <a:latin typeface="Segoe UI"/>
              </a:defRPr>
            </a:pPr>
            <a:r>
              <a:t>• No built-in reporting or overview of findings</a:t>
            </a:r>
          </a:p>
          <a:p>
            <a:pPr>
              <a:spcAft>
                <a:spcPts val="600"/>
              </a:spcAft>
              <a:defRPr sz="900">
                <a:solidFill>
                  <a:srgbClr val="263238"/>
                </a:solidFill>
                <a:latin typeface="Segoe UI"/>
              </a:defRPr>
            </a:pPr>
            <a:r>
              <a:t>• High operational overhead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Configure S3 bucket notifications with an Amazon EventBridge rule for new object uploads. Set the masking application as the target.</a:t>
            </a:r>
          </a:p>
        </p:txBody>
      </p:sp>
      <p:pic>
        <p:nvPicPr>
          <p:cNvPr id="5" name="Picture 4" descr="option_b_eventbridge_upload.png"/>
          <p:cNvPicPr>
            <a:picLocks noChangeAspect="1"/>
          </p:cNvPicPr>
          <p:nvPr/>
        </p:nvPicPr>
        <p:blipFill>
          <a:blip r:embed="rId2"/>
          <a:stretch>
            <a:fillRect/>
          </a:stretch>
        </p:blipFill>
        <p:spPr>
          <a:xfrm>
            <a:off x="182880" y="1550145"/>
            <a:ext cx="5303519" cy="2203228"/>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No PII identification step at all</a:t>
            </a:r>
          </a:p>
          <a:p>
            <a:pPr>
              <a:spcAft>
                <a:spcPts val="600"/>
              </a:spcAft>
              <a:defRPr sz="900">
                <a:solidFill>
                  <a:srgbClr val="263238"/>
                </a:solidFill>
                <a:latin typeface="Segoe UI"/>
              </a:defRPr>
            </a:pPr>
            <a:r>
              <a:t>• Triggers masking on every upload blindly</a:t>
            </a:r>
          </a:p>
          <a:p>
            <a:pPr>
              <a:spcAft>
                <a:spcPts val="600"/>
              </a:spcAft>
              <a:defRPr sz="900">
                <a:solidFill>
                  <a:srgbClr val="263238"/>
                </a:solidFill>
                <a:latin typeface="Segoe UI"/>
              </a:defRPr>
            </a:pPr>
            <a:r>
              <a:t>• Wasteful — processes files without PII</a:t>
            </a:r>
          </a:p>
          <a:p>
            <a:pPr>
              <a:spcAft>
                <a:spcPts val="600"/>
              </a:spcAft>
              <a:defRPr sz="900">
                <a:solidFill>
                  <a:srgbClr val="263238"/>
                </a:solidFill>
                <a:latin typeface="Segoe UI"/>
              </a:defRPr>
            </a:pPr>
            <a:r>
              <a:t>• Doesn't meet the 'identify PII' requirement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Enable Amazon Macie. Create an EventBridge rule for Macie findings. Set the masking application as the target.</a:t>
            </a:r>
          </a:p>
        </p:txBody>
      </p:sp>
      <p:pic>
        <p:nvPicPr>
          <p:cNvPr id="5" name="Picture 4" descr="option_c_macie_eventbridge.png"/>
          <p:cNvPicPr>
            <a:picLocks noChangeAspect="1"/>
          </p:cNvPicPr>
          <p:nvPr/>
        </p:nvPicPr>
        <p:blipFill>
          <a:blip r:embed="rId2"/>
          <a:stretch>
            <a:fillRect/>
          </a:stretch>
        </p:blipFill>
        <p:spPr>
          <a:xfrm>
            <a:off x="182880" y="1887026"/>
            <a:ext cx="5303520" cy="1529466"/>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Macie is purpose-built for PII discovery in S3</a:t>
            </a:r>
          </a:p>
          <a:p>
            <a:pPr>
              <a:spcAft>
                <a:spcPts val="600"/>
              </a:spcAft>
              <a:defRPr sz="900">
                <a:solidFill>
                  <a:srgbClr val="263238"/>
                </a:solidFill>
                <a:latin typeface="Segoe UI"/>
              </a:defRPr>
            </a:pPr>
            <a:r>
              <a:t>• Scans both new and existing data automatically</a:t>
            </a:r>
          </a:p>
          <a:p>
            <a:pPr>
              <a:spcAft>
                <a:spcPts val="600"/>
              </a:spcAft>
              <a:defRPr sz="900">
                <a:solidFill>
                  <a:srgbClr val="263238"/>
                </a:solidFill>
                <a:latin typeface="Segoe UI"/>
              </a:defRPr>
            </a:pPr>
            <a:r>
              <a:t>• EventBridge provides real-time event-driven response</a:t>
            </a:r>
          </a:p>
          <a:p>
            <a:pPr>
              <a:spcAft>
                <a:spcPts val="600"/>
              </a:spcAft>
              <a:defRPr sz="900">
                <a:solidFill>
                  <a:srgbClr val="263238"/>
                </a:solidFill>
                <a:latin typeface="Segoe UI"/>
              </a:defRPr>
            </a:pPr>
            <a:r>
              <a:t>• Fully managed with built-in reporting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Enable Amazon Macie. Create a Lambda function on a schedule to poll Macie findings and invoke the masking application.</a:t>
            </a:r>
          </a:p>
        </p:txBody>
      </p:sp>
      <p:pic>
        <p:nvPicPr>
          <p:cNvPr id="5" name="Picture 4" descr="option_d_macie_polling.png"/>
          <p:cNvPicPr>
            <a:picLocks noChangeAspect="1"/>
          </p:cNvPicPr>
          <p:nvPr/>
        </p:nvPicPr>
        <p:blipFill>
          <a:blip r:embed="rId2"/>
          <a:stretch>
            <a:fillRect/>
          </a:stretch>
        </p:blipFill>
        <p:spPr>
          <a:xfrm>
            <a:off x="182880" y="1097280"/>
            <a:ext cx="3015365"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Polling adds latency — not real-time</a:t>
            </a:r>
          </a:p>
          <a:p>
            <a:pPr>
              <a:spcAft>
                <a:spcPts val="600"/>
              </a:spcAft>
              <a:defRPr sz="900">
                <a:solidFill>
                  <a:srgbClr val="263238"/>
                </a:solidFill>
                <a:latin typeface="Segoe UI"/>
              </a:defRPr>
            </a:pPr>
            <a:r>
              <a:t>• Scheduled Lambda adds operational overhead</a:t>
            </a:r>
          </a:p>
          <a:p>
            <a:pPr>
              <a:spcAft>
                <a:spcPts val="600"/>
              </a:spcAft>
              <a:defRPr sz="900">
                <a:solidFill>
                  <a:srgbClr val="263238"/>
                </a:solidFill>
                <a:latin typeface="Segoe UI"/>
              </a:defRPr>
            </a:pPr>
            <a:r>
              <a:t>• May miss findings between poll intervals</a:t>
            </a:r>
          </a:p>
          <a:p>
            <a:pPr>
              <a:spcAft>
                <a:spcPts val="600"/>
              </a:spcAft>
              <a:defRPr sz="900">
                <a:solidFill>
                  <a:srgbClr val="263238"/>
                </a:solidFill>
                <a:latin typeface="Segoe UI"/>
              </a:defRPr>
            </a:pPr>
            <a:r>
              <a:t>• Event-driven approach is simpler and faster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