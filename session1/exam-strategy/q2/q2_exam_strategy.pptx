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D1B2A"/>
            </a:gs>
            <a:gs pos="100000">
              <a:srgbClr val="09121C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5943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88E5"/>
                </a:solidFill>
                <a:latin typeface="Segoe UI"/>
              </a:defRPr>
            </a:pPr>
            <a:r>
              <a:t>Data Pipeline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31520"/>
            <a:ext cx="6583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A data engineer at a multinational corporation is designing a new data pipeline architecture. The company needs to consolidate data from multiple transactional databases, enable data analysis for business intelligence teams, and ensure the production databases' performance isn't impacted.</a:t>
            </a:r>
            <a:br/>
            <a:br/>
            <a:r>
              <a:t>What is the recommended approach?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2176272"/>
            <a:ext cx="292608" cy="292608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945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ECEFF1"/>
                </a:solidFill>
                <a:latin typeface="Segoe UI"/>
              </a:defRPr>
            </a:pPr>
            <a:r>
              <a:t>Direct all analytics queries to the transactional databases to ensure real-time data access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706624"/>
            <a:ext cx="292608" cy="292608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24912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ECEFF1"/>
                </a:solidFill>
                <a:latin typeface="Segoe UI"/>
              </a:defRPr>
            </a:pPr>
            <a:r>
              <a:t>Land data in a data lake, prepare it, then move selected data to a data warehouse for reporting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3236976"/>
            <a:ext cx="292608" cy="292608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55264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ECEFF1"/>
                </a:solidFill>
                <a:latin typeface="Segoe UI"/>
              </a:defRPr>
            </a:pPr>
            <a:r>
              <a:t>Store all data directly in the data warehouse and perform transformations during query runtime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3767328"/>
            <a:ext cx="292608" cy="292608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85615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ECEFF1"/>
                </a:solidFill>
                <a:latin typeface="Segoe UI"/>
              </a:defRPr>
            </a:pPr>
            <a:r>
              <a:t>Create separate data marts for each business unit without a centralized data warehouse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274320"/>
            <a:ext cx="1920240" cy="2103120"/>
          </a:xfrm>
          <a:prstGeom prst="roundRect">
            <a:avLst/>
          </a:prstGeom>
          <a:solidFill>
            <a:srgbClr val="1A2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365760"/>
            <a:ext cx="173736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900" b="1">
                <a:solidFill>
                  <a:srgbClr val="00E676"/>
                </a:solidFill>
                <a:latin typeface="Segoe UI"/>
              </a:defRPr>
            </a:pPr>
            <a:r>
              <a:t>⏱ TIME</a:t>
            </a:r>
          </a:p>
        </p:txBody>
      </p:sp>
      <p:pic>
        <p:nvPicPr>
          <p:cNvPr id="15" name="Picture 14" descr="countdown_2mi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640080"/>
            <a:ext cx="1554480" cy="1554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280160" cy="411480"/>
          </a:xfrm>
          <a:prstGeom prst="roundRect">
            <a:avLst/>
          </a:prstGeom>
          <a:solidFill>
            <a:srgbClr val="FF1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37360" y="137160"/>
            <a:ext cx="71323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A: Direct all analytics queries to the transactional databases to ensure real-time data access</a:t>
            </a:r>
          </a:p>
        </p:txBody>
      </p:sp>
      <p:pic>
        <p:nvPicPr>
          <p:cNvPr id="5" name="Picture 4" descr="option_a_direct_qu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2954325" cy="31089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91840" cy="3840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005840"/>
            <a:ext cx="54864" cy="384048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97880" y="1143000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97880" y="1508760"/>
            <a:ext cx="2926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00">
                <a:solidFill>
                  <a:srgbClr val="263238"/>
                </a:solidFill>
                <a:latin typeface="Segoe UI"/>
              </a:defRPr>
            </a:pPr>
            <a:r>
              <a:t>• Complex analytics queries degrade production DB performance</a:t>
            </a:r>
          </a:p>
          <a:p>
            <a:pPr>
              <a:spcAft>
                <a:spcPts val="600"/>
              </a:spcAft>
              <a:defRPr sz="900">
                <a:solidFill>
                  <a:srgbClr val="263238"/>
                </a:solidFill>
                <a:latin typeface="Segoe UI"/>
              </a:defRPr>
            </a:pPr>
            <a:r>
              <a:t>• Violates the requirement to protect production workloads</a:t>
            </a:r>
          </a:p>
          <a:p>
            <a:pPr>
              <a:spcAft>
                <a:spcPts val="600"/>
              </a:spcAft>
              <a:defRPr sz="900">
                <a:solidFill>
                  <a:srgbClr val="263238"/>
                </a:solidFill>
                <a:latin typeface="Segoe UI"/>
              </a:defRPr>
            </a:pPr>
            <a:r>
              <a:t>• No separation between OLTP and OLAP concerns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280160" cy="411480"/>
          </a:xfrm>
          <a:prstGeom prst="roundRect">
            <a:avLst/>
          </a:prstGeom>
          <a:solidFill>
            <a:srgbClr val="00C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✓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37360" y="137160"/>
            <a:ext cx="71323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B: Land data in a data lake, prepare it, then move selected data to a data warehouse for reporting</a:t>
            </a:r>
          </a:p>
        </p:txBody>
      </p:sp>
      <p:pic>
        <p:nvPicPr>
          <p:cNvPr id="5" name="Picture 4" descr="option_b_lake_warehou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468030"/>
            <a:ext cx="5303520" cy="236745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91840" cy="3840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005840"/>
            <a:ext cx="54864" cy="384048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97880" y="1143000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C853"/>
                </a:solidFill>
                <a:latin typeface="Segoe UI"/>
              </a:defRPr>
            </a:pPr>
            <a:r>
              <a:t>Why this is correct: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97880" y="1508760"/>
            <a:ext cx="2926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00">
                <a:solidFill>
                  <a:srgbClr val="263238"/>
                </a:solidFill>
                <a:latin typeface="Segoe UI"/>
              </a:defRPr>
            </a:pPr>
            <a:r>
              <a:t>• Separates analytics from production databases</a:t>
            </a:r>
          </a:p>
          <a:p>
            <a:pPr>
              <a:spcAft>
                <a:spcPts val="600"/>
              </a:spcAft>
              <a:defRPr sz="900">
                <a:solidFill>
                  <a:srgbClr val="263238"/>
                </a:solidFill>
                <a:latin typeface="Segoe UI"/>
              </a:defRPr>
            </a:pPr>
            <a:r>
              <a:t>• S3 data lake provides flexible, scalable raw storage</a:t>
            </a:r>
          </a:p>
          <a:p>
            <a:pPr>
              <a:spcAft>
                <a:spcPts val="600"/>
              </a:spcAft>
              <a:defRPr sz="900">
                <a:solidFill>
                  <a:srgbClr val="263238"/>
                </a:solidFill>
                <a:latin typeface="Segoe UI"/>
              </a:defRPr>
            </a:pPr>
            <a:r>
              <a:t>• Glue transforms data; Redshift serves fast BI queries</a:t>
            </a:r>
          </a:p>
          <a:p>
            <a:pPr>
              <a:spcAft>
                <a:spcPts val="600"/>
              </a:spcAft>
              <a:defRPr sz="900">
                <a:solidFill>
                  <a:srgbClr val="263238"/>
                </a:solidFill>
                <a:latin typeface="Segoe UI"/>
              </a:defRPr>
            </a:pPr>
            <a:r>
              <a:t>• AWS recommended lake-to-warehouse pattern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280160" cy="411480"/>
          </a:xfrm>
          <a:prstGeom prst="roundRect">
            <a:avLst/>
          </a:prstGeom>
          <a:solidFill>
            <a:srgbClr val="FF1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37360" y="137160"/>
            <a:ext cx="71323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C: Store all data directly in the data warehouse and perform transformations during query runtime</a:t>
            </a:r>
          </a:p>
        </p:txBody>
      </p:sp>
      <p:pic>
        <p:nvPicPr>
          <p:cNvPr id="5" name="Picture 4" descr="option_c_direct_warehou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4964380" cy="31089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91840" cy="3840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005840"/>
            <a:ext cx="54864" cy="384048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97880" y="1143000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97880" y="1508760"/>
            <a:ext cx="2926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00">
                <a:solidFill>
                  <a:srgbClr val="263238"/>
                </a:solidFill>
                <a:latin typeface="Segoe UI"/>
              </a:defRPr>
            </a:pPr>
            <a:r>
              <a:t>• No data lake stage limits flexibility</a:t>
            </a:r>
          </a:p>
          <a:p>
            <a:pPr>
              <a:spcAft>
                <a:spcPts val="600"/>
              </a:spcAft>
              <a:defRPr sz="900">
                <a:solidFill>
                  <a:srgbClr val="263238"/>
                </a:solidFill>
                <a:latin typeface="Segoe UI"/>
              </a:defRPr>
            </a:pPr>
            <a:r>
              <a:t>• Query-time transforms are expensive and slow</a:t>
            </a:r>
          </a:p>
          <a:p>
            <a:pPr>
              <a:spcAft>
                <a:spcPts val="600"/>
              </a:spcAft>
              <a:defRPr sz="900">
                <a:solidFill>
                  <a:srgbClr val="263238"/>
                </a:solidFill>
                <a:latin typeface="Segoe UI"/>
              </a:defRPr>
            </a:pPr>
            <a:r>
              <a:t>• Raw data in warehouse increases storage costs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280160" cy="411480"/>
          </a:xfrm>
          <a:prstGeom prst="roundRect">
            <a:avLst/>
          </a:prstGeom>
          <a:solidFill>
            <a:srgbClr val="FF1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37360" y="137160"/>
            <a:ext cx="71323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D: Create separate data marts for each business unit without a centralized data warehouse</a:t>
            </a:r>
          </a:p>
        </p:txBody>
      </p:sp>
      <p:pic>
        <p:nvPicPr>
          <p:cNvPr id="5" name="Picture 4" descr="option_d_data_m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2149881" cy="31089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91840" cy="3840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005840"/>
            <a:ext cx="54864" cy="384048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97880" y="1143000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97880" y="1508760"/>
            <a:ext cx="2926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00">
                <a:solidFill>
                  <a:srgbClr val="263238"/>
                </a:solidFill>
                <a:latin typeface="Segoe UI"/>
              </a:defRPr>
            </a:pPr>
            <a:r>
              <a:t>• Creates data silos across business units</a:t>
            </a:r>
          </a:p>
          <a:p>
            <a:pPr>
              <a:spcAft>
                <a:spcPts val="600"/>
              </a:spcAft>
              <a:defRPr sz="900">
                <a:solidFill>
                  <a:srgbClr val="263238"/>
                </a:solidFill>
                <a:latin typeface="Segoe UI"/>
              </a:defRPr>
            </a:pPr>
            <a:r>
              <a:t>• Duplicate pipelines increase operational overhead</a:t>
            </a:r>
          </a:p>
          <a:p>
            <a:pPr>
              <a:spcAft>
                <a:spcPts val="600"/>
              </a:spcAft>
              <a:defRPr sz="900">
                <a:solidFill>
                  <a:srgbClr val="263238"/>
                </a:solidFill>
                <a:latin typeface="Segoe UI"/>
              </a:defRPr>
            </a:pPr>
            <a:r>
              <a:t>• Cross-unit analysis becomes impossible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