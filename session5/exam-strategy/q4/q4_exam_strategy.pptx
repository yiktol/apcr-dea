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D1B2A"/>
            </a:gs>
            <a:gs pos="100000">
              <a:srgbClr val="09121C"/>
            </a:gs>
          </a:gsLst>
          <a:lin scaled="0"/>
        </a:gradFill>
        <a:effectLst/>
      </p:bgPr>
    </p:bg>
    <p:spTree>
      <p:nvGrpSpPr>
        <p:cNvPr id="1" name=""/>
        <p:cNvGrpSpPr/>
        <p:nvPr/>
      </p:nvGrpSpPr>
      <p:grpSpPr/>
      <p:sp>
        <p:nvSpPr>
          <p:cNvPr id="2" name="Rectangle 1"/>
          <p:cNvSpPr/>
          <p:nvPr/>
        </p:nvSpPr>
        <p:spPr>
          <a:xfrm>
            <a:off x="0" y="0"/>
            <a:ext cx="73152"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5943600" cy="457200"/>
          </a:xfrm>
          <a:prstGeom prst="rect">
            <a:avLst/>
          </a:prstGeom>
          <a:noFill/>
        </p:spPr>
        <p:txBody>
          <a:bodyPr wrap="none">
            <a:spAutoFit/>
          </a:bodyPr>
          <a:lstStyle/>
          <a:p>
            <a:pPr>
              <a:defRPr sz="2000" b="1">
                <a:solidFill>
                  <a:srgbClr val="1E88E5"/>
                </a:solidFill>
                <a:latin typeface="Segoe UI"/>
              </a:defRPr>
            </a:pPr>
            <a:r>
              <a:t>Glue Data Catalog Encryption</a:t>
            </a:r>
          </a:p>
        </p:txBody>
      </p:sp>
      <p:sp>
        <p:nvSpPr>
          <p:cNvPr id="4" name="TextBox 3"/>
          <p:cNvSpPr txBox="1"/>
          <p:nvPr/>
        </p:nvSpPr>
        <p:spPr>
          <a:xfrm>
            <a:off x="365760" y="731520"/>
            <a:ext cx="6583680" cy="1371600"/>
          </a:xfrm>
          <a:prstGeom prst="rect">
            <a:avLst/>
          </a:prstGeom>
          <a:noFill/>
        </p:spPr>
        <p:txBody>
          <a:bodyPr wrap="square">
            <a:spAutoFit/>
          </a:bodyPr>
          <a:lstStyle/>
          <a:p>
            <a:pPr>
              <a:defRPr sz="1100">
                <a:solidFill>
                  <a:srgbClr val="FFFFFF"/>
                </a:solidFill>
                <a:latin typeface="Segoe UI"/>
              </a:defRPr>
            </a:pPr>
            <a:r>
              <a:t>A financial services company needs to implement encryption for their AWS Glue Data Catalog. They want full control over encryption keys, ability to rotate cryptographic material, modify key policies, and ensure audit logging support.</a:t>
            </a:r>
            <a:br/>
            <a:br/>
            <a:r>
              <a:t>What should they implement?</a:t>
            </a:r>
          </a:p>
        </p:txBody>
      </p:sp>
      <p:sp>
        <p:nvSpPr>
          <p:cNvPr id="5" name="Oval 4"/>
          <p:cNvSpPr/>
          <p:nvPr/>
        </p:nvSpPr>
        <p:spPr>
          <a:xfrm>
            <a:off x="457200" y="2176272"/>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A</a:t>
            </a:r>
          </a:p>
        </p:txBody>
      </p:sp>
      <p:sp>
        <p:nvSpPr>
          <p:cNvPr id="6" name="TextBox 5"/>
          <p:cNvSpPr txBox="1"/>
          <p:nvPr/>
        </p:nvSpPr>
        <p:spPr>
          <a:xfrm>
            <a:off x="868680" y="2194560"/>
            <a:ext cx="6400800" cy="365760"/>
          </a:xfrm>
          <a:prstGeom prst="rect">
            <a:avLst/>
          </a:prstGeom>
          <a:noFill/>
        </p:spPr>
        <p:txBody>
          <a:bodyPr wrap="square">
            <a:spAutoFit/>
          </a:bodyPr>
          <a:lstStyle/>
          <a:p>
            <a:pPr>
              <a:defRPr sz="1000">
                <a:solidFill>
                  <a:srgbClr val="ECEFF1"/>
                </a:solidFill>
                <a:latin typeface="Segoe UI"/>
              </a:defRPr>
            </a:pPr>
            <a:r>
              <a:t>Customer managed keys with CloudTrail logging enabled.</a:t>
            </a:r>
          </a:p>
        </p:txBody>
      </p:sp>
      <p:sp>
        <p:nvSpPr>
          <p:cNvPr id="7" name="Oval 6"/>
          <p:cNvSpPr/>
          <p:nvPr/>
        </p:nvSpPr>
        <p:spPr>
          <a:xfrm>
            <a:off x="457200" y="2706624"/>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B</a:t>
            </a:r>
          </a:p>
        </p:txBody>
      </p:sp>
      <p:sp>
        <p:nvSpPr>
          <p:cNvPr id="8" name="TextBox 7"/>
          <p:cNvSpPr txBox="1"/>
          <p:nvPr/>
        </p:nvSpPr>
        <p:spPr>
          <a:xfrm>
            <a:off x="868680" y="2724912"/>
            <a:ext cx="6400800" cy="365760"/>
          </a:xfrm>
          <a:prstGeom prst="rect">
            <a:avLst/>
          </a:prstGeom>
          <a:noFill/>
        </p:spPr>
        <p:txBody>
          <a:bodyPr wrap="square">
            <a:spAutoFit/>
          </a:bodyPr>
          <a:lstStyle/>
          <a:p>
            <a:pPr>
              <a:defRPr sz="1000">
                <a:solidFill>
                  <a:srgbClr val="ECEFF1"/>
                </a:solidFill>
                <a:latin typeface="Segoe UI"/>
              </a:defRPr>
            </a:pPr>
            <a:r>
              <a:t>AWS managed keys with CloudTrail logging enabled.</a:t>
            </a:r>
          </a:p>
        </p:txBody>
      </p:sp>
      <p:sp>
        <p:nvSpPr>
          <p:cNvPr id="9" name="Oval 8"/>
          <p:cNvSpPr/>
          <p:nvPr/>
        </p:nvSpPr>
        <p:spPr>
          <a:xfrm>
            <a:off x="457200" y="3236976"/>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C</a:t>
            </a:r>
          </a:p>
        </p:txBody>
      </p:sp>
      <p:sp>
        <p:nvSpPr>
          <p:cNvPr id="10" name="TextBox 9"/>
          <p:cNvSpPr txBox="1"/>
          <p:nvPr/>
        </p:nvSpPr>
        <p:spPr>
          <a:xfrm>
            <a:off x="868680" y="3255264"/>
            <a:ext cx="6400800" cy="365760"/>
          </a:xfrm>
          <a:prstGeom prst="rect">
            <a:avLst/>
          </a:prstGeom>
          <a:noFill/>
        </p:spPr>
        <p:txBody>
          <a:bodyPr wrap="square">
            <a:spAutoFit/>
          </a:bodyPr>
          <a:lstStyle/>
          <a:p>
            <a:pPr>
              <a:defRPr sz="1000">
                <a:solidFill>
                  <a:srgbClr val="ECEFF1"/>
                </a:solidFill>
                <a:latin typeface="Segoe UI"/>
              </a:defRPr>
            </a:pPr>
            <a:r>
              <a:t>AWS managed keys with encryption context only.</a:t>
            </a:r>
          </a:p>
        </p:txBody>
      </p:sp>
      <p:sp>
        <p:nvSpPr>
          <p:cNvPr id="11" name="Oval 10"/>
          <p:cNvSpPr/>
          <p:nvPr/>
        </p:nvSpPr>
        <p:spPr>
          <a:xfrm>
            <a:off x="457200" y="3767328"/>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D</a:t>
            </a:r>
          </a:p>
        </p:txBody>
      </p:sp>
      <p:sp>
        <p:nvSpPr>
          <p:cNvPr id="12" name="TextBox 11"/>
          <p:cNvSpPr txBox="1"/>
          <p:nvPr/>
        </p:nvSpPr>
        <p:spPr>
          <a:xfrm>
            <a:off x="868680" y="3785615"/>
            <a:ext cx="6400800" cy="365760"/>
          </a:xfrm>
          <a:prstGeom prst="rect">
            <a:avLst/>
          </a:prstGeom>
          <a:noFill/>
        </p:spPr>
        <p:txBody>
          <a:bodyPr wrap="square">
            <a:spAutoFit/>
          </a:bodyPr>
          <a:lstStyle/>
          <a:p>
            <a:pPr>
              <a:defRPr sz="1000">
                <a:solidFill>
                  <a:srgbClr val="ECEFF1"/>
                </a:solidFill>
                <a:latin typeface="Segoe UI"/>
              </a:defRPr>
            </a:pPr>
            <a:r>
              <a:t>Custom encryption keys stored in AWS Secrets Manager.</a:t>
            </a:r>
          </a:p>
        </p:txBody>
      </p:sp>
      <p:sp>
        <p:nvSpPr>
          <p:cNvPr id="13" name="Rounded Rectangle 12"/>
          <p:cNvSpPr/>
          <p:nvPr/>
        </p:nvSpPr>
        <p:spPr>
          <a:xfrm>
            <a:off x="7040880" y="274320"/>
            <a:ext cx="1920240" cy="210312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365760"/>
            <a:ext cx="1737360" cy="320040"/>
          </a:xfrm>
          <a:prstGeom prst="rect">
            <a:avLst/>
          </a:prstGeom>
          <a:noFill/>
        </p:spPr>
        <p:txBody>
          <a:bodyPr wrap="none" anchor="ctr">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315200" y="64008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00C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A: Customer managed keys with CloudTrail logging enabled.</a:t>
            </a:r>
          </a:p>
        </p:txBody>
      </p:sp>
      <p:pic>
        <p:nvPicPr>
          <p:cNvPr id="5" name="Picture 4" descr="option_a.png"/>
          <p:cNvPicPr>
            <a:picLocks noChangeAspect="1"/>
          </p:cNvPicPr>
          <p:nvPr/>
        </p:nvPicPr>
        <p:blipFill>
          <a:blip r:embed="rId2"/>
          <a:stretch>
            <a:fillRect/>
          </a:stretch>
        </p:blipFill>
        <p:spPr>
          <a:xfrm>
            <a:off x="182880" y="1097280"/>
            <a:ext cx="3135916"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00C853"/>
                </a:solidFill>
                <a:latin typeface="Segoe UI"/>
              </a:defRPr>
            </a:pPr>
            <a:r>
              <a:t>Why this is 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Customer managed keys (CMK) provide full control</a:t>
            </a:r>
          </a:p>
          <a:p>
            <a:pPr>
              <a:spcAft>
                <a:spcPts val="600"/>
              </a:spcAft>
              <a:defRPr sz="900">
                <a:solidFill>
                  <a:srgbClr val="263238"/>
                </a:solidFill>
                <a:latin typeface="Segoe UI"/>
              </a:defRPr>
            </a:pPr>
            <a:r>
              <a:t>• Can rotate cryptographic material on schedule</a:t>
            </a:r>
          </a:p>
          <a:p>
            <a:pPr>
              <a:spcAft>
                <a:spcPts val="600"/>
              </a:spcAft>
              <a:defRPr sz="900">
                <a:solidFill>
                  <a:srgbClr val="263238"/>
                </a:solidFill>
                <a:latin typeface="Segoe UI"/>
              </a:defRPr>
            </a:pPr>
            <a:r>
              <a:t>• Can modify key policies and grant access</a:t>
            </a:r>
          </a:p>
          <a:p>
            <a:pPr>
              <a:spcAft>
                <a:spcPts val="600"/>
              </a:spcAft>
              <a:defRPr sz="900">
                <a:solidFill>
                  <a:srgbClr val="263238"/>
                </a:solidFill>
                <a:latin typeface="Segoe UI"/>
              </a:defRPr>
            </a:pPr>
            <a:r>
              <a:t>• CloudTrail logs all key usage for audit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B: AWS managed keys with CloudTrail logging enabled.</a:t>
            </a:r>
          </a:p>
        </p:txBody>
      </p:sp>
      <p:pic>
        <p:nvPicPr>
          <p:cNvPr id="5" name="Picture 4" descr="option_b.png"/>
          <p:cNvPicPr>
            <a:picLocks noChangeAspect="1"/>
          </p:cNvPicPr>
          <p:nvPr/>
        </p:nvPicPr>
        <p:blipFill>
          <a:blip r:embed="rId2"/>
          <a:stretch>
            <a:fillRect/>
          </a:stretch>
        </p:blipFill>
        <p:spPr>
          <a:xfrm>
            <a:off x="182880" y="1097280"/>
            <a:ext cx="4945124"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AWS managed keys don't allow key policy modification</a:t>
            </a:r>
          </a:p>
          <a:p>
            <a:pPr>
              <a:spcAft>
                <a:spcPts val="600"/>
              </a:spcAft>
              <a:defRPr sz="900">
                <a:solidFill>
                  <a:srgbClr val="263238"/>
                </a:solidFill>
                <a:latin typeface="Segoe UI"/>
              </a:defRPr>
            </a:pPr>
            <a:r>
              <a:t>• Cannot control rotation schedule</a:t>
            </a:r>
          </a:p>
          <a:p>
            <a:pPr>
              <a:spcAft>
                <a:spcPts val="600"/>
              </a:spcAft>
              <a:defRPr sz="900">
                <a:solidFill>
                  <a:srgbClr val="263238"/>
                </a:solidFill>
                <a:latin typeface="Segoe UI"/>
              </a:defRPr>
            </a:pPr>
            <a:r>
              <a:t>• Limited control over key lifecycle</a:t>
            </a:r>
          </a:p>
          <a:p>
            <a:pPr>
              <a:spcAft>
                <a:spcPts val="600"/>
              </a:spcAft>
              <a:defRPr sz="900">
                <a:solidFill>
                  <a:srgbClr val="263238"/>
                </a:solidFill>
                <a:latin typeface="Segoe UI"/>
              </a:defRPr>
            </a:pPr>
            <a:r>
              <a:t>• CloudTrail logging works but key control is insufficient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C: AWS managed keys with encryption context only.</a:t>
            </a:r>
          </a:p>
        </p:txBody>
      </p:sp>
      <p:pic>
        <p:nvPicPr>
          <p:cNvPr id="5" name="Picture 4" descr="option_c.png"/>
          <p:cNvPicPr>
            <a:picLocks noChangeAspect="1"/>
          </p:cNvPicPr>
          <p:nvPr/>
        </p:nvPicPr>
        <p:blipFill>
          <a:blip r:embed="rId2"/>
          <a:stretch>
            <a:fillRect/>
          </a:stretch>
        </p:blipFill>
        <p:spPr>
          <a:xfrm>
            <a:off x="182880" y="1097280"/>
            <a:ext cx="5227319"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AWS managed keys lack required control</a:t>
            </a:r>
          </a:p>
          <a:p>
            <a:pPr>
              <a:spcAft>
                <a:spcPts val="600"/>
              </a:spcAft>
              <a:defRPr sz="900">
                <a:solidFill>
                  <a:srgbClr val="263238"/>
                </a:solidFill>
                <a:latin typeface="Segoe UI"/>
              </a:defRPr>
            </a:pPr>
            <a:r>
              <a:t>• Encryption context alone doesn't provide audit logging</a:t>
            </a:r>
          </a:p>
          <a:p>
            <a:pPr>
              <a:spcAft>
                <a:spcPts val="600"/>
              </a:spcAft>
              <a:defRPr sz="900">
                <a:solidFill>
                  <a:srgbClr val="263238"/>
                </a:solidFill>
                <a:latin typeface="Segoe UI"/>
              </a:defRPr>
            </a:pPr>
            <a:r>
              <a:t>• Cannot rotate or modify key policies</a:t>
            </a:r>
          </a:p>
          <a:p>
            <a:pPr>
              <a:spcAft>
                <a:spcPts val="600"/>
              </a:spcAft>
              <a:defRPr sz="900">
                <a:solidFill>
                  <a:srgbClr val="263238"/>
                </a:solidFill>
                <a:latin typeface="Segoe UI"/>
              </a:defRPr>
            </a:pPr>
            <a:r>
              <a:t>• Doesn't meet the full control requirement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D: Custom encryption keys stored in AWS Secrets Manager.</a:t>
            </a:r>
          </a:p>
        </p:txBody>
      </p:sp>
      <p:pic>
        <p:nvPicPr>
          <p:cNvPr id="5" name="Picture 4" descr="option_d.png"/>
          <p:cNvPicPr>
            <a:picLocks noChangeAspect="1"/>
          </p:cNvPicPr>
          <p:nvPr/>
        </p:nvPicPr>
        <p:blipFill>
          <a:blip r:embed="rId2"/>
          <a:stretch>
            <a:fillRect/>
          </a:stretch>
        </p:blipFill>
        <p:spPr>
          <a:xfrm>
            <a:off x="182880" y="1236983"/>
            <a:ext cx="5303520" cy="2829552"/>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Secrets Manager stores secrets, not encryption keys</a:t>
            </a:r>
          </a:p>
          <a:p>
            <a:pPr>
              <a:spcAft>
                <a:spcPts val="600"/>
              </a:spcAft>
              <a:defRPr sz="900">
                <a:solidFill>
                  <a:srgbClr val="263238"/>
                </a:solidFill>
                <a:latin typeface="Segoe UI"/>
              </a:defRPr>
            </a:pPr>
            <a:r>
              <a:t>• KMS is the correct service for encryption key management</a:t>
            </a:r>
          </a:p>
          <a:p>
            <a:pPr>
              <a:spcAft>
                <a:spcPts val="600"/>
              </a:spcAft>
              <a:defRPr sz="900">
                <a:solidFill>
                  <a:srgbClr val="263238"/>
                </a:solidFill>
                <a:latin typeface="Segoe UI"/>
              </a:defRPr>
            </a:pPr>
            <a:r>
              <a:t>• Cannot integrate with Glue Data Catalog encryption</a:t>
            </a:r>
          </a:p>
          <a:p>
            <a:pPr>
              <a:spcAft>
                <a:spcPts val="600"/>
              </a:spcAft>
              <a:defRPr sz="900">
                <a:solidFill>
                  <a:srgbClr val="263238"/>
                </a:solidFill>
                <a:latin typeface="Segoe UI"/>
              </a:defRPr>
            </a:pPr>
            <a:r>
              <a:t>• Wrong service for this use case entirely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