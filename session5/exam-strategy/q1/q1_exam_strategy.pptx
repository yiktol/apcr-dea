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D1B2A"/>
            </a:gs>
            <a:gs pos="100000">
              <a:srgbClr val="09121C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5943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E88E5"/>
                </a:solidFill>
                <a:latin typeface="Segoe UI"/>
              </a:defRPr>
            </a:pPr>
            <a:r>
              <a:t>Redshift Data Sharing (Cross-Account)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31520"/>
            <a:ext cx="6583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FFFFF"/>
                </a:solidFill>
                <a:latin typeface="Segoe UI"/>
              </a:defRPr>
            </a:pPr>
            <a:r>
              <a:t>A data engineer needs to distribute processed data from a central Redshift ETL cluster to multiple BI teams across different AWS accounts and regions. Teams need different access levels, real-time updates without data copies, cost-effectiveness, and workload isolation.</a:t>
            </a:r>
            <a:br/>
            <a:br/>
            <a:r>
              <a:t>What is the most suitable approach?</a:t>
            </a:r>
          </a:p>
        </p:txBody>
      </p:sp>
      <p:sp>
        <p:nvSpPr>
          <p:cNvPr id="5" name="Oval 4"/>
          <p:cNvSpPr/>
          <p:nvPr/>
        </p:nvSpPr>
        <p:spPr>
          <a:xfrm>
            <a:off x="457200" y="2176272"/>
            <a:ext cx="292608" cy="292608"/>
          </a:xfrm>
          <a:prstGeom prst="ellipse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19456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ECEFF1"/>
                </a:solidFill>
                <a:latin typeface="Segoe UI"/>
              </a:defRPr>
            </a:pPr>
            <a:r>
              <a:t>Set up cross-region snapshot copies and restore them in each region.</a:t>
            </a:r>
          </a:p>
        </p:txBody>
      </p:sp>
      <p:sp>
        <p:nvSpPr>
          <p:cNvPr id="7" name="Oval 6"/>
          <p:cNvSpPr/>
          <p:nvPr/>
        </p:nvSpPr>
        <p:spPr>
          <a:xfrm>
            <a:off x="457200" y="2706624"/>
            <a:ext cx="292608" cy="292608"/>
          </a:xfrm>
          <a:prstGeom prst="ellipse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724912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ECEFF1"/>
                </a:solidFill>
                <a:latin typeface="Segoe UI"/>
              </a:defRPr>
            </a:pPr>
            <a:r>
              <a:t>Use Amazon Redshift data sharing with a central ETL cluster.</a:t>
            </a:r>
          </a:p>
        </p:txBody>
      </p:sp>
      <p:sp>
        <p:nvSpPr>
          <p:cNvPr id="9" name="Oval 8"/>
          <p:cNvSpPr/>
          <p:nvPr/>
        </p:nvSpPr>
        <p:spPr>
          <a:xfrm>
            <a:off x="457200" y="3236976"/>
            <a:ext cx="292608" cy="292608"/>
          </a:xfrm>
          <a:prstGeom prst="ellipse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255264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ECEFF1"/>
                </a:solidFill>
                <a:latin typeface="Segoe UI"/>
              </a:defRPr>
            </a:pPr>
            <a:r>
              <a:t>Implement real-time replication using AWS DMS.</a:t>
            </a:r>
          </a:p>
        </p:txBody>
      </p:sp>
      <p:sp>
        <p:nvSpPr>
          <p:cNvPr id="11" name="Oval 10"/>
          <p:cNvSpPr/>
          <p:nvPr/>
        </p:nvSpPr>
        <p:spPr>
          <a:xfrm>
            <a:off x="457200" y="3767328"/>
            <a:ext cx="292608" cy="292608"/>
          </a:xfrm>
          <a:prstGeom prst="ellipse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785615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ECEFF1"/>
                </a:solidFill>
                <a:latin typeface="Segoe UI"/>
              </a:defRPr>
            </a:pPr>
            <a:r>
              <a:t>Create separate ETL processes in each region.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040880" y="274320"/>
            <a:ext cx="1920240" cy="2103120"/>
          </a:xfrm>
          <a:prstGeom prst="roundRect">
            <a:avLst/>
          </a:prstGeom>
          <a:solidFill>
            <a:srgbClr val="1A23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0" y="365760"/>
            <a:ext cx="173736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900" b="1">
                <a:solidFill>
                  <a:srgbClr val="00E676"/>
                </a:solidFill>
                <a:latin typeface="Segoe UI"/>
              </a:defRPr>
            </a:pPr>
            <a:r>
              <a:t>⏱ TIME</a:t>
            </a:r>
          </a:p>
        </p:txBody>
      </p:sp>
      <p:pic>
        <p:nvPicPr>
          <p:cNvPr id="15" name="Picture 14" descr="countdown_2min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640080"/>
            <a:ext cx="1554480" cy="15544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82880"/>
            <a:ext cx="1280160" cy="411480"/>
          </a:xfrm>
          <a:prstGeom prst="roundRect">
            <a:avLst/>
          </a:prstGeom>
          <a:solidFill>
            <a:srgbClr val="FF1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✗ INCORRECT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37360" y="137160"/>
            <a:ext cx="71323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000">
                <a:solidFill>
                  <a:srgbClr val="FFFFFF"/>
                </a:solidFill>
                <a:latin typeface="Segoe UI"/>
              </a:defRPr>
            </a:pPr>
            <a:r>
              <a:t>Option A: Set up cross-region snapshot copies and restore them in each region.</a:t>
            </a:r>
          </a:p>
        </p:txBody>
      </p:sp>
      <p:pic>
        <p:nvPicPr>
          <p:cNvPr id="5" name="Picture 4" descr="option_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262150"/>
            <a:ext cx="5303520" cy="2779218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669280" y="1005840"/>
            <a:ext cx="3291840" cy="38404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0" y="1005840"/>
            <a:ext cx="54864" cy="3840480"/>
          </a:xfrm>
          <a:prstGeom prst="rect">
            <a:avLst/>
          </a:prstGeom>
          <a:solidFill>
            <a:srgbClr val="FF1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97880" y="114300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1744"/>
                </a:solidFill>
                <a:latin typeface="Segoe UI"/>
              </a:defRPr>
            </a:pPr>
            <a:r>
              <a:t>Why this is incorrect: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97880" y="1508760"/>
            <a:ext cx="29260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900">
                <a:solidFill>
                  <a:srgbClr val="263238"/>
                </a:solidFill>
                <a:latin typeface="Segoe UI"/>
              </a:defRPr>
            </a:pPr>
            <a:r>
              <a:t>• Snapshots create point-in-time copies — not real-time</a:t>
            </a:r>
          </a:p>
          <a:p>
            <a:pPr>
              <a:spcAft>
                <a:spcPts val="600"/>
              </a:spcAft>
              <a:defRPr sz="900">
                <a:solidFill>
                  <a:srgbClr val="263238"/>
                </a:solidFill>
                <a:latin typeface="Segoe UI"/>
              </a:defRPr>
            </a:pPr>
            <a:r>
              <a:t>• Requires restore in each region — operational overhead</a:t>
            </a:r>
          </a:p>
          <a:p>
            <a:pPr>
              <a:spcAft>
                <a:spcPts val="600"/>
              </a:spcAft>
              <a:defRPr sz="900">
                <a:solidFill>
                  <a:srgbClr val="263238"/>
                </a:solidFill>
                <a:latin typeface="Segoe UI"/>
              </a:defRPr>
            </a:pPr>
            <a:r>
              <a:t>• Data becomes stale between snapshot intervals</a:t>
            </a:r>
          </a:p>
          <a:p>
            <a:pPr>
              <a:spcAft>
                <a:spcPts val="600"/>
              </a:spcAft>
              <a:defRPr sz="900">
                <a:solidFill>
                  <a:srgbClr val="263238"/>
                </a:solidFill>
                <a:latin typeface="Segoe UI"/>
              </a:defRPr>
            </a:pPr>
            <a:r>
              <a:t>• Storage duplication across regions increases cost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82880"/>
            <a:ext cx="1280160" cy="411480"/>
          </a:xfrm>
          <a:prstGeom prst="roundRect">
            <a:avLst/>
          </a:prstGeom>
          <a:solidFill>
            <a:srgbClr val="00C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✓ CORRECT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37360" y="137160"/>
            <a:ext cx="71323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000">
                <a:solidFill>
                  <a:srgbClr val="FFFFFF"/>
                </a:solidFill>
                <a:latin typeface="Segoe UI"/>
              </a:defRPr>
            </a:pPr>
            <a:r>
              <a:t>Option B: Use Amazon Redshift data sharing with a central ETL cluster.</a:t>
            </a:r>
          </a:p>
        </p:txBody>
      </p:sp>
      <p:pic>
        <p:nvPicPr>
          <p:cNvPr id="5" name="Picture 4" descr="option_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097280"/>
            <a:ext cx="3280925" cy="310896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669280" y="1005840"/>
            <a:ext cx="3291840" cy="38404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0" y="1005840"/>
            <a:ext cx="54864" cy="3840480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97880" y="114300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C853"/>
                </a:solidFill>
                <a:latin typeface="Segoe UI"/>
              </a:defRPr>
            </a:pPr>
            <a:r>
              <a:t>Why this is correct: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97880" y="1508760"/>
            <a:ext cx="29260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900">
                <a:solidFill>
                  <a:srgbClr val="263238"/>
                </a:solidFill>
                <a:latin typeface="Segoe UI"/>
              </a:defRPr>
            </a:pPr>
            <a:r>
              <a:t>• Live data sharing — no copies, always current</a:t>
            </a:r>
          </a:p>
          <a:p>
            <a:pPr>
              <a:spcAft>
                <a:spcPts val="600"/>
              </a:spcAft>
              <a:defRPr sz="900">
                <a:solidFill>
                  <a:srgbClr val="263238"/>
                </a:solidFill>
                <a:latin typeface="Segoe UI"/>
              </a:defRPr>
            </a:pPr>
            <a:r>
              <a:t>• Supports cross-account and cross-region sharing</a:t>
            </a:r>
          </a:p>
          <a:p>
            <a:pPr>
              <a:spcAft>
                <a:spcPts val="600"/>
              </a:spcAft>
              <a:defRPr sz="900">
                <a:solidFill>
                  <a:srgbClr val="263238"/>
                </a:solidFill>
                <a:latin typeface="Segoe UI"/>
              </a:defRPr>
            </a:pPr>
            <a:r>
              <a:t>• Granular access control per consumer cluster</a:t>
            </a:r>
          </a:p>
          <a:p>
            <a:pPr>
              <a:spcAft>
                <a:spcPts val="600"/>
              </a:spcAft>
              <a:defRPr sz="900">
                <a:solidFill>
                  <a:srgbClr val="263238"/>
                </a:solidFill>
                <a:latin typeface="Segoe UI"/>
              </a:defRPr>
            </a:pPr>
            <a:r>
              <a:t>• Workload isolation with separate compute per team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82880"/>
            <a:ext cx="1280160" cy="411480"/>
          </a:xfrm>
          <a:prstGeom prst="roundRect">
            <a:avLst/>
          </a:prstGeom>
          <a:solidFill>
            <a:srgbClr val="FF1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✗ INCORRECT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37360" y="137160"/>
            <a:ext cx="71323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000">
                <a:solidFill>
                  <a:srgbClr val="FFFFFF"/>
                </a:solidFill>
                <a:latin typeface="Segoe UI"/>
              </a:defRPr>
            </a:pPr>
            <a:r>
              <a:t>Option C: Implement real-time replication using AWS DMS.</a:t>
            </a:r>
          </a:p>
        </p:txBody>
      </p:sp>
      <p:pic>
        <p:nvPicPr>
          <p:cNvPr id="5" name="Picture 4" descr="option_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570235"/>
            <a:ext cx="5303520" cy="2163049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669280" y="1005840"/>
            <a:ext cx="3291840" cy="38404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0" y="1005840"/>
            <a:ext cx="54864" cy="3840480"/>
          </a:xfrm>
          <a:prstGeom prst="rect">
            <a:avLst/>
          </a:prstGeom>
          <a:solidFill>
            <a:srgbClr val="FF1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97880" y="114300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1744"/>
                </a:solidFill>
                <a:latin typeface="Segoe UI"/>
              </a:defRPr>
            </a:pPr>
            <a:r>
              <a:t>Why this is incorrect: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97880" y="1508760"/>
            <a:ext cx="29260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900">
                <a:solidFill>
                  <a:srgbClr val="263238"/>
                </a:solidFill>
                <a:latin typeface="Segoe UI"/>
              </a:defRPr>
            </a:pPr>
            <a:r>
              <a:t>• DMS is for database migration, not data distribution</a:t>
            </a:r>
          </a:p>
          <a:p>
            <a:pPr>
              <a:spcAft>
                <a:spcPts val="600"/>
              </a:spcAft>
              <a:defRPr sz="900">
                <a:solidFill>
                  <a:srgbClr val="263238"/>
                </a:solidFill>
                <a:latin typeface="Segoe UI"/>
              </a:defRPr>
            </a:pPr>
            <a:r>
              <a:t>• Adds replication lag and operational complexity</a:t>
            </a:r>
          </a:p>
          <a:p>
            <a:pPr>
              <a:spcAft>
                <a:spcPts val="600"/>
              </a:spcAft>
              <a:defRPr sz="900">
                <a:solidFill>
                  <a:srgbClr val="263238"/>
                </a:solidFill>
                <a:latin typeface="Segoe UI"/>
              </a:defRPr>
            </a:pPr>
            <a:r>
              <a:t>• Not designed for multi-consumer read access patterns</a:t>
            </a:r>
          </a:p>
          <a:p>
            <a:pPr>
              <a:spcAft>
                <a:spcPts val="600"/>
              </a:spcAft>
              <a:defRPr sz="900">
                <a:solidFill>
                  <a:srgbClr val="263238"/>
                </a:solidFill>
                <a:latin typeface="Segoe UI"/>
              </a:defRPr>
            </a:pPr>
            <a:r>
              <a:t>• Over-engineered for this use case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82880"/>
            <a:ext cx="1280160" cy="411480"/>
          </a:xfrm>
          <a:prstGeom prst="roundRect">
            <a:avLst/>
          </a:prstGeom>
          <a:solidFill>
            <a:srgbClr val="FF1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✗ INCORRECT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37360" y="137160"/>
            <a:ext cx="71323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000">
                <a:solidFill>
                  <a:srgbClr val="FFFFFF"/>
                </a:solidFill>
                <a:latin typeface="Segoe UI"/>
              </a:defRPr>
            </a:pPr>
            <a:r>
              <a:t>Option D: Create separate ETL processes in each region.</a:t>
            </a:r>
          </a:p>
        </p:txBody>
      </p:sp>
      <p:pic>
        <p:nvPicPr>
          <p:cNvPr id="5" name="Picture 4" descr="option_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418101"/>
            <a:ext cx="5303520" cy="2467316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669280" y="1005840"/>
            <a:ext cx="3291840" cy="38404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0" y="1005840"/>
            <a:ext cx="54864" cy="3840480"/>
          </a:xfrm>
          <a:prstGeom prst="rect">
            <a:avLst/>
          </a:prstGeom>
          <a:solidFill>
            <a:srgbClr val="FF1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97880" y="114300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1744"/>
                </a:solidFill>
                <a:latin typeface="Segoe UI"/>
              </a:defRPr>
            </a:pPr>
            <a:r>
              <a:t>Why this is incorrect: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97880" y="1508760"/>
            <a:ext cx="29260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900">
                <a:solidFill>
                  <a:srgbClr val="263238"/>
                </a:solidFill>
                <a:latin typeface="Segoe UI"/>
              </a:defRPr>
            </a:pPr>
            <a:r>
              <a:t>• Duplicate ETL pipelines in every region</a:t>
            </a:r>
          </a:p>
          <a:p>
            <a:pPr>
              <a:spcAft>
                <a:spcPts val="600"/>
              </a:spcAft>
              <a:defRPr sz="900">
                <a:solidFill>
                  <a:srgbClr val="263238"/>
                </a:solidFill>
                <a:latin typeface="Segoe UI"/>
              </a:defRPr>
            </a:pPr>
            <a:r>
              <a:t>• Highest operational overhead and cost</a:t>
            </a:r>
          </a:p>
          <a:p>
            <a:pPr>
              <a:spcAft>
                <a:spcPts val="600"/>
              </a:spcAft>
              <a:defRPr sz="900">
                <a:solidFill>
                  <a:srgbClr val="263238"/>
                </a:solidFill>
                <a:latin typeface="Segoe UI"/>
              </a:defRPr>
            </a:pPr>
            <a:r>
              <a:t>• Data inconsistency risk across regions</a:t>
            </a:r>
          </a:p>
          <a:p>
            <a:pPr>
              <a:spcAft>
                <a:spcPts val="600"/>
              </a:spcAft>
              <a:defRPr sz="900">
                <a:solidFill>
                  <a:srgbClr val="263238"/>
                </a:solidFill>
                <a:latin typeface="Segoe UI"/>
              </a:defRPr>
            </a:pPr>
            <a:r>
              <a:t>• Violates the 'no data copies' requirement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