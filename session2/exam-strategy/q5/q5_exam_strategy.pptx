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D1B2A"/>
            </a:gs>
            <a:gs pos="100000">
              <a:srgbClr val="09121C"/>
            </a:gs>
          </a:gsLst>
          <a:lin scaled="0"/>
        </a:gradFill>
        <a:effectLst/>
      </p:bgPr>
    </p:bg>
    <p:spTree>
      <p:nvGrpSpPr>
        <p:cNvPr id="1" name=""/>
        <p:cNvGrpSpPr/>
        <p:nvPr/>
      </p:nvGrpSpPr>
      <p:grpSpPr/>
      <p:sp>
        <p:nvSpPr>
          <p:cNvPr id="2" name="Rectangle 1"/>
          <p:cNvSpPr/>
          <p:nvPr/>
        </p:nvSpPr>
        <p:spPr>
          <a:xfrm>
            <a:off x="0" y="0"/>
            <a:ext cx="73152"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5943600" cy="457200"/>
          </a:xfrm>
          <a:prstGeom prst="rect">
            <a:avLst/>
          </a:prstGeom>
          <a:noFill/>
        </p:spPr>
        <p:txBody>
          <a:bodyPr wrap="none">
            <a:spAutoFit/>
          </a:bodyPr>
          <a:lstStyle/>
          <a:p>
            <a:pPr>
              <a:defRPr sz="2000" b="1">
                <a:solidFill>
                  <a:srgbClr val="1E88E5"/>
                </a:solidFill>
                <a:latin typeface="Segoe UI"/>
              </a:defRPr>
            </a:pPr>
            <a:r>
              <a:t>S3 Storage Classes</a:t>
            </a:r>
          </a:p>
        </p:txBody>
      </p:sp>
      <p:sp>
        <p:nvSpPr>
          <p:cNvPr id="4" name="TextBox 3"/>
          <p:cNvSpPr txBox="1"/>
          <p:nvPr/>
        </p:nvSpPr>
        <p:spPr>
          <a:xfrm>
            <a:off x="365760" y="731520"/>
            <a:ext cx="6583680" cy="1371600"/>
          </a:xfrm>
          <a:prstGeom prst="rect">
            <a:avLst/>
          </a:prstGeom>
          <a:noFill/>
        </p:spPr>
        <p:txBody>
          <a:bodyPr wrap="square">
            <a:spAutoFit/>
          </a:bodyPr>
          <a:lstStyle/>
          <a:p>
            <a:pPr>
              <a:defRPr sz="1100">
                <a:solidFill>
                  <a:srgbClr val="FFFFFF"/>
                </a:solidFill>
                <a:latin typeface="Segoe UI"/>
              </a:defRPr>
            </a:pPr>
            <a:r>
              <a:t>A video streaming service stores large amounts of video content on Amazon S3. They have frequently accessed content that needs to be readily available and older content accessed once per quarter. The data engineer is tasked with optimizing storage costs while maintaining required performance.</a:t>
            </a:r>
            <a:br/>
            <a:br/>
            <a:r>
              <a:t>Which combination of Amazon S3 storage classes will meet the requirements in the most cost effective way?</a:t>
            </a:r>
          </a:p>
        </p:txBody>
      </p:sp>
      <p:sp>
        <p:nvSpPr>
          <p:cNvPr id="5" name="Oval 4"/>
          <p:cNvSpPr/>
          <p:nvPr/>
        </p:nvSpPr>
        <p:spPr>
          <a:xfrm>
            <a:off x="457200" y="2176272"/>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A</a:t>
            </a:r>
          </a:p>
        </p:txBody>
      </p:sp>
      <p:sp>
        <p:nvSpPr>
          <p:cNvPr id="6" name="TextBox 5"/>
          <p:cNvSpPr txBox="1"/>
          <p:nvPr/>
        </p:nvSpPr>
        <p:spPr>
          <a:xfrm>
            <a:off x="868680" y="2194560"/>
            <a:ext cx="6400800" cy="365760"/>
          </a:xfrm>
          <a:prstGeom prst="rect">
            <a:avLst/>
          </a:prstGeom>
          <a:noFill/>
        </p:spPr>
        <p:txBody>
          <a:bodyPr wrap="square">
            <a:spAutoFit/>
          </a:bodyPr>
          <a:lstStyle/>
          <a:p>
            <a:pPr>
              <a:defRPr sz="1000">
                <a:solidFill>
                  <a:srgbClr val="ECEFF1"/>
                </a:solidFill>
                <a:latin typeface="Segoe UI"/>
              </a:defRPr>
            </a:pPr>
            <a:r>
              <a:t>S3 Standard for frequently accessed content and S3 Glacier Instant Retrieval for infrequently accessed content.</a:t>
            </a:r>
          </a:p>
        </p:txBody>
      </p:sp>
      <p:sp>
        <p:nvSpPr>
          <p:cNvPr id="7" name="Oval 6"/>
          <p:cNvSpPr/>
          <p:nvPr/>
        </p:nvSpPr>
        <p:spPr>
          <a:xfrm>
            <a:off x="457200" y="2706624"/>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B</a:t>
            </a:r>
          </a:p>
        </p:txBody>
      </p:sp>
      <p:sp>
        <p:nvSpPr>
          <p:cNvPr id="8" name="TextBox 7"/>
          <p:cNvSpPr txBox="1"/>
          <p:nvPr/>
        </p:nvSpPr>
        <p:spPr>
          <a:xfrm>
            <a:off x="868680" y="2724912"/>
            <a:ext cx="6400800" cy="365760"/>
          </a:xfrm>
          <a:prstGeom prst="rect">
            <a:avLst/>
          </a:prstGeom>
          <a:noFill/>
        </p:spPr>
        <p:txBody>
          <a:bodyPr wrap="square">
            <a:spAutoFit/>
          </a:bodyPr>
          <a:lstStyle/>
          <a:p>
            <a:pPr>
              <a:defRPr sz="1000">
                <a:solidFill>
                  <a:srgbClr val="ECEFF1"/>
                </a:solidFill>
                <a:latin typeface="Segoe UI"/>
              </a:defRPr>
            </a:pPr>
            <a:r>
              <a:t>S3 Standard for frequently accessed content and S3 Infrequent-Access for infrequently accessed content.</a:t>
            </a:r>
          </a:p>
        </p:txBody>
      </p:sp>
      <p:sp>
        <p:nvSpPr>
          <p:cNvPr id="9" name="Oval 8"/>
          <p:cNvSpPr/>
          <p:nvPr/>
        </p:nvSpPr>
        <p:spPr>
          <a:xfrm>
            <a:off x="457200" y="3236976"/>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C</a:t>
            </a:r>
          </a:p>
        </p:txBody>
      </p:sp>
      <p:sp>
        <p:nvSpPr>
          <p:cNvPr id="10" name="TextBox 9"/>
          <p:cNvSpPr txBox="1"/>
          <p:nvPr/>
        </p:nvSpPr>
        <p:spPr>
          <a:xfrm>
            <a:off x="868680" y="3255264"/>
            <a:ext cx="6400800" cy="365760"/>
          </a:xfrm>
          <a:prstGeom prst="rect">
            <a:avLst/>
          </a:prstGeom>
          <a:noFill/>
        </p:spPr>
        <p:txBody>
          <a:bodyPr wrap="square">
            <a:spAutoFit/>
          </a:bodyPr>
          <a:lstStyle/>
          <a:p>
            <a:pPr>
              <a:defRPr sz="1000">
                <a:solidFill>
                  <a:srgbClr val="ECEFF1"/>
                </a:solidFill>
                <a:latin typeface="Segoe UI"/>
              </a:defRPr>
            </a:pPr>
            <a:r>
              <a:t>S3 Glacier Instant Retrieval for frequently accessed content and S3 Glacier Deep Archive for infrequently accessed archive content.</a:t>
            </a:r>
          </a:p>
        </p:txBody>
      </p:sp>
      <p:sp>
        <p:nvSpPr>
          <p:cNvPr id="11" name="Oval 10"/>
          <p:cNvSpPr/>
          <p:nvPr/>
        </p:nvSpPr>
        <p:spPr>
          <a:xfrm>
            <a:off x="457200" y="3767328"/>
            <a:ext cx="292608" cy="292608"/>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000" b="1">
                <a:solidFill>
                  <a:srgbClr val="FFFFFF"/>
                </a:solidFill>
              </a:defRPr>
            </a:pPr>
            <a:r>
              <a:t>D</a:t>
            </a:r>
          </a:p>
        </p:txBody>
      </p:sp>
      <p:sp>
        <p:nvSpPr>
          <p:cNvPr id="12" name="TextBox 11"/>
          <p:cNvSpPr txBox="1"/>
          <p:nvPr/>
        </p:nvSpPr>
        <p:spPr>
          <a:xfrm>
            <a:off x="868680" y="3785615"/>
            <a:ext cx="6400800" cy="365760"/>
          </a:xfrm>
          <a:prstGeom prst="rect">
            <a:avLst/>
          </a:prstGeom>
          <a:noFill/>
        </p:spPr>
        <p:txBody>
          <a:bodyPr wrap="square">
            <a:spAutoFit/>
          </a:bodyPr>
          <a:lstStyle/>
          <a:p>
            <a:pPr>
              <a:defRPr sz="1000">
                <a:solidFill>
                  <a:srgbClr val="ECEFF1"/>
                </a:solidFill>
                <a:latin typeface="Segoe UI"/>
              </a:defRPr>
            </a:pPr>
            <a:r>
              <a:t>S3 Standard-IA for frequently accessed content, S3 Glacier Instant Retrieval for infrequently accessed archive content.</a:t>
            </a:r>
          </a:p>
        </p:txBody>
      </p:sp>
      <p:sp>
        <p:nvSpPr>
          <p:cNvPr id="13" name="Rounded Rectangle 12"/>
          <p:cNvSpPr/>
          <p:nvPr/>
        </p:nvSpPr>
        <p:spPr>
          <a:xfrm>
            <a:off x="7040880" y="274320"/>
            <a:ext cx="1920240" cy="2103120"/>
          </a:xfrm>
          <a:prstGeom prst="roundRect">
            <a:avLst/>
          </a:prstGeom>
          <a:solidFill>
            <a:srgbClr val="1A23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365760"/>
            <a:ext cx="1737360" cy="320040"/>
          </a:xfrm>
          <a:prstGeom prst="rect">
            <a:avLst/>
          </a:prstGeom>
          <a:noFill/>
        </p:spPr>
        <p:txBody>
          <a:bodyPr wrap="none" anchor="ctr">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315200" y="64008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00C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A: S3 Standard for frequently accessed content and S3 Glacier Instant Retrieval for infrequently accessed content.</a:t>
            </a:r>
          </a:p>
        </p:txBody>
      </p:sp>
      <p:pic>
        <p:nvPicPr>
          <p:cNvPr id="5" name="Picture 4" descr="option_a.png"/>
          <p:cNvPicPr>
            <a:picLocks noChangeAspect="1"/>
          </p:cNvPicPr>
          <p:nvPr/>
        </p:nvPicPr>
        <p:blipFill>
          <a:blip r:embed="rId2"/>
          <a:stretch>
            <a:fillRect/>
          </a:stretch>
        </p:blipFill>
        <p:spPr>
          <a:xfrm>
            <a:off x="182880" y="1097280"/>
            <a:ext cx="4477159"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00C853"/>
                </a:solidFill>
                <a:latin typeface="Segoe UI"/>
              </a:defRPr>
            </a:pPr>
            <a:r>
              <a:t>Why this is 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S3 Standard for hot content — no retrieval fee</a:t>
            </a:r>
          </a:p>
          <a:p>
            <a:pPr>
              <a:spcAft>
                <a:spcPts val="600"/>
              </a:spcAft>
              <a:defRPr sz="900">
                <a:solidFill>
                  <a:srgbClr val="263238"/>
                </a:solidFill>
                <a:latin typeface="Segoe UI"/>
              </a:defRPr>
            </a:pPr>
            <a:r>
              <a:t>• Glacier Instant Retrieval saves 68% vs Standard-IA at quarterly access</a:t>
            </a:r>
          </a:p>
          <a:p>
            <a:pPr>
              <a:spcAft>
                <a:spcPts val="600"/>
              </a:spcAft>
              <a:defRPr sz="900">
                <a:solidFill>
                  <a:srgbClr val="263238"/>
                </a:solidFill>
                <a:latin typeface="Segoe UI"/>
              </a:defRPr>
            </a:pPr>
            <a:r>
              <a:t>• Still provides millisecond access — no latency trade-off</a:t>
            </a:r>
          </a:p>
          <a:p>
            <a:pPr>
              <a:spcAft>
                <a:spcPts val="600"/>
              </a:spcAft>
              <a:defRPr sz="900">
                <a:solidFill>
                  <a:srgbClr val="263238"/>
                </a:solidFill>
                <a:latin typeface="Segoe UI"/>
              </a:defRPr>
            </a:pPr>
            <a:r>
              <a:t>• AWS recommends this for data accessed once per quarter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B: S3 Standard for frequently accessed content and S3 Infrequent-Access for infrequently accessed content.</a:t>
            </a:r>
          </a:p>
        </p:txBody>
      </p:sp>
      <p:pic>
        <p:nvPicPr>
          <p:cNvPr id="5" name="Picture 4" descr="option_b.png"/>
          <p:cNvPicPr>
            <a:picLocks noChangeAspect="1"/>
          </p:cNvPicPr>
          <p:nvPr/>
        </p:nvPicPr>
        <p:blipFill>
          <a:blip r:embed="rId2"/>
          <a:stretch>
            <a:fillRect/>
          </a:stretch>
        </p:blipFill>
        <p:spPr>
          <a:xfrm>
            <a:off x="182880" y="1097280"/>
            <a:ext cx="4464312"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S3 Standard for hot content is correct</a:t>
            </a:r>
          </a:p>
          <a:p>
            <a:pPr>
              <a:spcAft>
                <a:spcPts val="600"/>
              </a:spcAft>
              <a:defRPr sz="900">
                <a:solidFill>
                  <a:srgbClr val="263238"/>
                </a:solidFill>
                <a:latin typeface="Segoe UI"/>
              </a:defRPr>
            </a:pPr>
            <a:r>
              <a:t>• Standard-IA costs 68% more than Glacier IR at quarterly access</a:t>
            </a:r>
          </a:p>
          <a:p>
            <a:pPr>
              <a:spcAft>
                <a:spcPts val="600"/>
              </a:spcAft>
              <a:defRPr sz="900">
                <a:solidFill>
                  <a:srgbClr val="263238"/>
                </a:solidFill>
                <a:latin typeface="Segoe UI"/>
              </a:defRPr>
            </a:pPr>
            <a:r>
              <a:t>• Standard-IA better suited for monthly access patterns</a:t>
            </a:r>
          </a:p>
          <a:p>
            <a:pPr>
              <a:spcAft>
                <a:spcPts val="600"/>
              </a:spcAft>
              <a:defRPr sz="900">
                <a:solidFill>
                  <a:srgbClr val="263238"/>
                </a:solidFill>
                <a:latin typeface="Segoe UI"/>
              </a:defRPr>
            </a:pPr>
            <a:r>
              <a:t>• Functional but not the MOST cost-effective option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C: S3 Glacier Instant Retrieval for frequently accessed content and S3 Glacier Deep Archive for infrequently accessed archive content.</a:t>
            </a:r>
          </a:p>
        </p:txBody>
      </p:sp>
      <p:pic>
        <p:nvPicPr>
          <p:cNvPr id="5" name="Picture 4" descr="option_c.png"/>
          <p:cNvPicPr>
            <a:picLocks noChangeAspect="1"/>
          </p:cNvPicPr>
          <p:nvPr/>
        </p:nvPicPr>
        <p:blipFill>
          <a:blip r:embed="rId2"/>
          <a:stretch>
            <a:fillRect/>
          </a:stretch>
        </p:blipFill>
        <p:spPr>
          <a:xfrm>
            <a:off x="182880" y="1097280"/>
            <a:ext cx="4979900"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Glacier IR NOT designed for frequently accessed content</a:t>
            </a:r>
          </a:p>
          <a:p>
            <a:pPr>
              <a:spcAft>
                <a:spcPts val="600"/>
              </a:spcAft>
              <a:defRPr sz="900">
                <a:solidFill>
                  <a:srgbClr val="263238"/>
                </a:solidFill>
                <a:latin typeface="Segoe UI"/>
              </a:defRPr>
            </a:pPr>
            <a:r>
              <a:t>• High retrieval costs on frequent access</a:t>
            </a:r>
          </a:p>
          <a:p>
            <a:pPr>
              <a:spcAft>
                <a:spcPts val="600"/>
              </a:spcAft>
              <a:defRPr sz="900">
                <a:solidFill>
                  <a:srgbClr val="263238"/>
                </a:solidFill>
                <a:latin typeface="Segoe UI"/>
              </a:defRPr>
            </a:pPr>
            <a:r>
              <a:t>• Deep Archive has 12-48 hour retrieval — too slow</a:t>
            </a:r>
          </a:p>
          <a:p>
            <a:pPr>
              <a:spcAft>
                <a:spcPts val="600"/>
              </a:spcAft>
              <a:defRPr sz="900">
                <a:solidFill>
                  <a:srgbClr val="263238"/>
                </a:solidFill>
                <a:latin typeface="Segoe UI"/>
              </a:defRPr>
            </a:pPr>
            <a:r>
              <a:t>• Frequently accessed content requires S3 Standard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280160" cy="411480"/>
          </a:xfrm>
          <a:prstGeom prst="roundRect">
            <a:avLst/>
          </a:prstGeom>
          <a:solidFill>
            <a:srgbClr val="FF17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737360" y="137160"/>
            <a:ext cx="7132320" cy="594360"/>
          </a:xfrm>
          <a:prstGeom prst="rect">
            <a:avLst/>
          </a:prstGeom>
          <a:noFill/>
        </p:spPr>
        <p:txBody>
          <a:bodyPr wrap="square" anchor="ctr">
            <a:spAutoFit/>
          </a:bodyPr>
          <a:lstStyle/>
          <a:p>
            <a:pPr>
              <a:defRPr sz="1000">
                <a:solidFill>
                  <a:srgbClr val="FFFFFF"/>
                </a:solidFill>
                <a:latin typeface="Segoe UI"/>
              </a:defRPr>
            </a:pPr>
            <a:r>
              <a:t>Option D: S3 Standard-IA for frequently accessed content, S3 Glacier Instant Retrieval for infrequently accessed archive content.</a:t>
            </a:r>
          </a:p>
        </p:txBody>
      </p:sp>
      <p:pic>
        <p:nvPicPr>
          <p:cNvPr id="5" name="Picture 4" descr="option_d.png"/>
          <p:cNvPicPr>
            <a:picLocks noChangeAspect="1"/>
          </p:cNvPicPr>
          <p:nvPr/>
        </p:nvPicPr>
        <p:blipFill>
          <a:blip r:embed="rId2"/>
          <a:stretch>
            <a:fillRect/>
          </a:stretch>
        </p:blipFill>
        <p:spPr>
          <a:xfrm>
            <a:off x="182880" y="1097280"/>
            <a:ext cx="4910348" cy="3108960"/>
          </a:xfrm>
          <a:prstGeom prst="rect">
            <a:avLst/>
          </a:prstGeom>
        </p:spPr>
      </p:pic>
      <p:sp>
        <p:nvSpPr>
          <p:cNvPr id="6" name="Rounded Rectangle 5"/>
          <p:cNvSpPr/>
          <p:nvPr/>
        </p:nvSpPr>
        <p:spPr>
          <a:xfrm>
            <a:off x="5669280" y="1005840"/>
            <a:ext cx="329184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005840"/>
            <a:ext cx="54864" cy="384048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97880" y="1143000"/>
            <a:ext cx="2926080" cy="320040"/>
          </a:xfrm>
          <a:prstGeom prst="rect">
            <a:avLst/>
          </a:prstGeom>
          <a:noFill/>
        </p:spPr>
        <p:txBody>
          <a:bodyPr wrap="none">
            <a:spAutoFit/>
          </a:bodyPr>
          <a:lstStyle/>
          <a:p>
            <a:pPr>
              <a:defRPr sz="1000" b="1">
                <a:solidFill>
                  <a:srgbClr val="FF1744"/>
                </a:solidFill>
                <a:latin typeface="Segoe UI"/>
              </a:defRPr>
            </a:pPr>
            <a:r>
              <a:t>Why this is incorrect:</a:t>
            </a:r>
          </a:p>
        </p:txBody>
      </p:sp>
      <p:sp>
        <p:nvSpPr>
          <p:cNvPr id="9" name="TextBox 8"/>
          <p:cNvSpPr txBox="1"/>
          <p:nvPr/>
        </p:nvSpPr>
        <p:spPr>
          <a:xfrm>
            <a:off x="5897880" y="1508760"/>
            <a:ext cx="2926080" cy="3200400"/>
          </a:xfrm>
          <a:prstGeom prst="rect">
            <a:avLst/>
          </a:prstGeom>
          <a:noFill/>
        </p:spPr>
        <p:txBody>
          <a:bodyPr wrap="square">
            <a:spAutoFit/>
          </a:bodyPr>
          <a:lstStyle/>
          <a:p>
            <a:pPr>
              <a:spcAft>
                <a:spcPts val="600"/>
              </a:spcAft>
              <a:defRPr sz="900">
                <a:solidFill>
                  <a:srgbClr val="263238"/>
                </a:solidFill>
                <a:latin typeface="Segoe UI"/>
              </a:defRPr>
            </a:pPr>
            <a:r>
              <a:t>• Standard-IA NOT suitable for frequent access</a:t>
            </a:r>
          </a:p>
          <a:p>
            <a:pPr>
              <a:spcAft>
                <a:spcPts val="600"/>
              </a:spcAft>
              <a:defRPr sz="900">
                <a:solidFill>
                  <a:srgbClr val="263238"/>
                </a:solidFill>
                <a:latin typeface="Segoe UI"/>
              </a:defRPr>
            </a:pPr>
            <a:r>
              <a:t>• $0.01/GB retrieval fee accumulates quickly</a:t>
            </a:r>
          </a:p>
          <a:p>
            <a:pPr>
              <a:spcAft>
                <a:spcPts val="600"/>
              </a:spcAft>
              <a:defRPr sz="900">
                <a:solidFill>
                  <a:srgbClr val="263238"/>
                </a:solidFill>
                <a:latin typeface="Segoe UI"/>
              </a:defRPr>
            </a:pPr>
            <a:r>
              <a:t>• Glacier IR for quarterly content is correct</a:t>
            </a:r>
          </a:p>
          <a:p>
            <a:pPr>
              <a:spcAft>
                <a:spcPts val="600"/>
              </a:spcAft>
              <a:defRPr sz="900">
                <a:solidFill>
                  <a:srgbClr val="263238"/>
                </a:solidFill>
                <a:latin typeface="Segoe UI"/>
              </a:defRPr>
            </a:pPr>
            <a:r>
              <a:t>• But the hot tier choice is wrong — needs S3 Standard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