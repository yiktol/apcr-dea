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slide1.xml><?xml version="1.0" encoding="utf-8"?>
<p:sld xmlns:a="http://schemas.openxmlformats.org/drawingml/2006/main" xmlns:p="http://schemas.openxmlformats.org/presentationml/2006/main" xmlns:r="http://schemas.openxmlformats.org/officeDocument/2006/relationships">
  <p:cSld>
    <p:bg>
      <p:bgPr>
        <a:gradFill rotWithShape="1">
          <a:gsLst>
            <a:gs pos="0">
              <a:srgbClr val="0D1B2A"/>
            </a:gs>
            <a:gs pos="100000">
              <a:srgbClr val="09121C"/>
            </a:gs>
          </a:gsLst>
          <a:lin scaled="0"/>
        </a:gradFill>
        <a:effectLst/>
      </p:bgPr>
    </p:bg>
    <p:spTree>
      <p:nvGrpSpPr>
        <p:cNvPr id="1" name=""/>
        <p:cNvGrpSpPr/>
        <p:nvPr/>
      </p:nvGrpSpPr>
      <p:grpSpPr/>
      <p:sp>
        <p:nvSpPr>
          <p:cNvPr id="2" name="Rectangle 1"/>
          <p:cNvSpPr/>
          <p:nvPr/>
        </p:nvSpPr>
        <p:spPr>
          <a:xfrm>
            <a:off x="0" y="0"/>
            <a:ext cx="73152" cy="514350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28600"/>
            <a:ext cx="5943600" cy="457200"/>
          </a:xfrm>
          <a:prstGeom prst="rect">
            <a:avLst/>
          </a:prstGeom>
          <a:noFill/>
        </p:spPr>
        <p:txBody>
          <a:bodyPr wrap="none">
            <a:spAutoFit/>
          </a:bodyPr>
          <a:lstStyle/>
          <a:p>
            <a:pPr>
              <a:defRPr sz="2000" b="1">
                <a:solidFill>
                  <a:srgbClr val="1E88E5"/>
                </a:solidFill>
                <a:latin typeface="Segoe UI"/>
              </a:defRPr>
            </a:pPr>
            <a:r>
              <a:t>S3 Upload Integrity</a:t>
            </a:r>
          </a:p>
        </p:txBody>
      </p:sp>
      <p:sp>
        <p:nvSpPr>
          <p:cNvPr id="4" name="TextBox 3"/>
          <p:cNvSpPr txBox="1"/>
          <p:nvPr/>
        </p:nvSpPr>
        <p:spPr>
          <a:xfrm>
            <a:off x="365760" y="731520"/>
            <a:ext cx="6583680" cy="1371600"/>
          </a:xfrm>
          <a:prstGeom prst="rect">
            <a:avLst/>
          </a:prstGeom>
          <a:noFill/>
        </p:spPr>
        <p:txBody>
          <a:bodyPr wrap="square">
            <a:spAutoFit/>
          </a:bodyPr>
          <a:lstStyle/>
          <a:p>
            <a:pPr>
              <a:defRPr sz="1100">
                <a:solidFill>
                  <a:srgbClr val="FFFFFF"/>
                </a:solidFill>
                <a:latin typeface="Segoe UI"/>
              </a:defRPr>
            </a:pPr>
            <a:r>
              <a:t>An international investment banking firm frequently uploads 100 MB files to Amazon S3 for analysis with Amazon Athena. Recently, some uploads have become corrupted. They need to ensure successful upload and verify file contents remain unchanged from on-premises to S3.</a:t>
            </a:r>
            <a:br/>
            <a:br/>
            <a:r>
              <a:t>Which recommendation is the MOST cost effective?</a:t>
            </a:r>
          </a:p>
        </p:txBody>
      </p:sp>
      <p:sp>
        <p:nvSpPr>
          <p:cNvPr id="5" name="Oval 4"/>
          <p:cNvSpPr/>
          <p:nvPr/>
        </p:nvSpPr>
        <p:spPr>
          <a:xfrm>
            <a:off x="457200" y="2176272"/>
            <a:ext cx="292608" cy="292608"/>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000" b="1">
                <a:solidFill>
                  <a:srgbClr val="FFFFFF"/>
                </a:solidFill>
              </a:defRPr>
            </a:pPr>
            <a:r>
              <a:t>A</a:t>
            </a:r>
          </a:p>
        </p:txBody>
      </p:sp>
      <p:sp>
        <p:nvSpPr>
          <p:cNvPr id="6" name="TextBox 5"/>
          <p:cNvSpPr txBox="1"/>
          <p:nvPr/>
        </p:nvSpPr>
        <p:spPr>
          <a:xfrm>
            <a:off x="868680" y="2194560"/>
            <a:ext cx="6400800" cy="365760"/>
          </a:xfrm>
          <a:prstGeom prst="rect">
            <a:avLst/>
          </a:prstGeom>
          <a:noFill/>
        </p:spPr>
        <p:txBody>
          <a:bodyPr wrap="square">
            <a:spAutoFit/>
          </a:bodyPr>
          <a:lstStyle/>
          <a:p>
            <a:pPr>
              <a:defRPr sz="1000">
                <a:solidFill>
                  <a:srgbClr val="ECEFF1"/>
                </a:solidFill>
                <a:latin typeface="Segoe UI"/>
              </a:defRPr>
            </a:pPr>
            <a:r>
              <a:t>Use the AWS CLI to upload files with the --sse parameter for server-side encryption, ensuring data integrity during transit.</a:t>
            </a:r>
          </a:p>
        </p:txBody>
      </p:sp>
      <p:sp>
        <p:nvSpPr>
          <p:cNvPr id="7" name="Oval 6"/>
          <p:cNvSpPr/>
          <p:nvPr/>
        </p:nvSpPr>
        <p:spPr>
          <a:xfrm>
            <a:off x="457200" y="2706624"/>
            <a:ext cx="292608" cy="292608"/>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000" b="1">
                <a:solidFill>
                  <a:srgbClr val="FFFFFF"/>
                </a:solidFill>
              </a:defRPr>
            </a:pPr>
            <a:r>
              <a:t>B</a:t>
            </a:r>
          </a:p>
        </p:txBody>
      </p:sp>
      <p:sp>
        <p:nvSpPr>
          <p:cNvPr id="8" name="TextBox 7"/>
          <p:cNvSpPr txBox="1"/>
          <p:nvPr/>
        </p:nvSpPr>
        <p:spPr>
          <a:xfrm>
            <a:off x="868680" y="2724912"/>
            <a:ext cx="6400800" cy="365760"/>
          </a:xfrm>
          <a:prstGeom prst="rect">
            <a:avLst/>
          </a:prstGeom>
          <a:noFill/>
        </p:spPr>
        <p:txBody>
          <a:bodyPr wrap="square">
            <a:spAutoFit/>
          </a:bodyPr>
          <a:lstStyle/>
          <a:p>
            <a:pPr>
              <a:defRPr sz="1000">
                <a:solidFill>
                  <a:srgbClr val="ECEFF1"/>
                </a:solidFill>
                <a:latin typeface="Segoe UI"/>
              </a:defRPr>
            </a:pPr>
            <a:r>
              <a:t>Utilize the S3 Multipart upload feature with MD5 checksum validation for each part, providing a strong guarantee that files are uploaded successfully and remain unaltered.</a:t>
            </a:r>
          </a:p>
        </p:txBody>
      </p:sp>
      <p:sp>
        <p:nvSpPr>
          <p:cNvPr id="9" name="Oval 8"/>
          <p:cNvSpPr/>
          <p:nvPr/>
        </p:nvSpPr>
        <p:spPr>
          <a:xfrm>
            <a:off x="457200" y="3236976"/>
            <a:ext cx="292608" cy="292608"/>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000" b="1">
                <a:solidFill>
                  <a:srgbClr val="FFFFFF"/>
                </a:solidFill>
              </a:defRPr>
            </a:pPr>
            <a:r>
              <a:t>C</a:t>
            </a:r>
          </a:p>
        </p:txBody>
      </p:sp>
      <p:sp>
        <p:nvSpPr>
          <p:cNvPr id="10" name="TextBox 9"/>
          <p:cNvSpPr txBox="1"/>
          <p:nvPr/>
        </p:nvSpPr>
        <p:spPr>
          <a:xfrm>
            <a:off x="868680" y="3255264"/>
            <a:ext cx="6400800" cy="365760"/>
          </a:xfrm>
          <a:prstGeom prst="rect">
            <a:avLst/>
          </a:prstGeom>
          <a:noFill/>
        </p:spPr>
        <p:txBody>
          <a:bodyPr wrap="square">
            <a:spAutoFit/>
          </a:bodyPr>
          <a:lstStyle/>
          <a:p>
            <a:pPr>
              <a:defRPr sz="1000">
                <a:solidFill>
                  <a:srgbClr val="ECEFF1"/>
                </a:solidFill>
                <a:latin typeface="Segoe UI"/>
              </a:defRPr>
            </a:pPr>
            <a:r>
              <a:t>Enable versioning on the S3 bucket to keep multiple versions of an object, allowing the company to revert to uncorrupted versions if necessary.</a:t>
            </a:r>
          </a:p>
        </p:txBody>
      </p:sp>
      <p:sp>
        <p:nvSpPr>
          <p:cNvPr id="11" name="Oval 10"/>
          <p:cNvSpPr/>
          <p:nvPr/>
        </p:nvSpPr>
        <p:spPr>
          <a:xfrm>
            <a:off x="457200" y="3767328"/>
            <a:ext cx="292608" cy="292608"/>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000" b="1">
                <a:solidFill>
                  <a:srgbClr val="FFFFFF"/>
                </a:solidFill>
              </a:defRPr>
            </a:pPr>
            <a:r>
              <a:t>D</a:t>
            </a:r>
          </a:p>
        </p:txBody>
      </p:sp>
      <p:sp>
        <p:nvSpPr>
          <p:cNvPr id="12" name="TextBox 11"/>
          <p:cNvSpPr txBox="1"/>
          <p:nvPr/>
        </p:nvSpPr>
        <p:spPr>
          <a:xfrm>
            <a:off x="868680" y="3785615"/>
            <a:ext cx="6400800" cy="365760"/>
          </a:xfrm>
          <a:prstGeom prst="rect">
            <a:avLst/>
          </a:prstGeom>
          <a:noFill/>
        </p:spPr>
        <p:txBody>
          <a:bodyPr wrap="square">
            <a:spAutoFit/>
          </a:bodyPr>
          <a:lstStyle/>
          <a:p>
            <a:pPr>
              <a:defRPr sz="1000">
                <a:solidFill>
                  <a:srgbClr val="ECEFF1"/>
                </a:solidFill>
                <a:latin typeface="Segoe UI"/>
              </a:defRPr>
            </a:pPr>
            <a:r>
              <a:t>Implement S3 Transfer Acceleration to increase the speed of file transfers and reduce the likelihood of corruption due to connection issues.</a:t>
            </a:r>
          </a:p>
        </p:txBody>
      </p:sp>
      <p:sp>
        <p:nvSpPr>
          <p:cNvPr id="13" name="Rounded Rectangle 12"/>
          <p:cNvSpPr/>
          <p:nvPr/>
        </p:nvSpPr>
        <p:spPr>
          <a:xfrm>
            <a:off x="7040880" y="274320"/>
            <a:ext cx="1920240" cy="2103120"/>
          </a:xfrm>
          <a:prstGeom prst="roundRect">
            <a:avLst/>
          </a:prstGeom>
          <a:solidFill>
            <a:srgbClr val="1A23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0" y="365760"/>
            <a:ext cx="1737360" cy="320040"/>
          </a:xfrm>
          <a:prstGeom prst="rect">
            <a:avLst/>
          </a:prstGeom>
          <a:noFill/>
        </p:spPr>
        <p:txBody>
          <a:bodyPr wrap="none" anchor="ctr">
            <a:spAutoFit/>
          </a:bodyPr>
          <a:lstStyle/>
          <a:p>
            <a:pPr algn="ctr">
              <a:defRPr sz="900" b="1">
                <a:solidFill>
                  <a:srgbClr val="00E676"/>
                </a:solidFill>
                <a:latin typeface="Segoe UI"/>
              </a:defRPr>
            </a:pPr>
            <a:r>
              <a:t>⏱ TIME</a:t>
            </a:r>
          </a:p>
        </p:txBody>
      </p:sp>
      <p:pic>
        <p:nvPicPr>
          <p:cNvPr id="15" name="Picture 14" descr="countdown_2min.gif"/>
          <p:cNvPicPr>
            <a:picLocks noChangeAspect="1"/>
          </p:cNvPicPr>
          <p:nvPr/>
        </p:nvPicPr>
        <p:blipFill>
          <a:blip r:embed="rId2"/>
          <a:stretch>
            <a:fillRect/>
          </a:stretch>
        </p:blipFill>
        <p:spPr>
          <a:xfrm>
            <a:off x="7315200" y="640080"/>
            <a:ext cx="1554480" cy="155448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280160" cy="411480"/>
          </a:xfrm>
          <a:prstGeom prst="roundRect">
            <a:avLst/>
          </a:prstGeom>
          <a:solidFill>
            <a:srgbClr val="FF1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737360" y="137160"/>
            <a:ext cx="7132320" cy="594360"/>
          </a:xfrm>
          <a:prstGeom prst="rect">
            <a:avLst/>
          </a:prstGeom>
          <a:noFill/>
        </p:spPr>
        <p:txBody>
          <a:bodyPr wrap="square" anchor="ctr">
            <a:spAutoFit/>
          </a:bodyPr>
          <a:lstStyle/>
          <a:p>
            <a:pPr>
              <a:defRPr sz="1000">
                <a:solidFill>
                  <a:srgbClr val="FFFFFF"/>
                </a:solidFill>
                <a:latin typeface="Segoe UI"/>
              </a:defRPr>
            </a:pPr>
            <a:r>
              <a:t>Option A: Use the AWS CLI to upload files with the --sse parameter for server-side encryption, ensuring data integrity during transit.</a:t>
            </a:r>
          </a:p>
        </p:txBody>
      </p:sp>
      <p:pic>
        <p:nvPicPr>
          <p:cNvPr id="5" name="Picture 4" descr="option_a.png"/>
          <p:cNvPicPr>
            <a:picLocks noChangeAspect="1"/>
          </p:cNvPicPr>
          <p:nvPr/>
        </p:nvPicPr>
        <p:blipFill>
          <a:blip r:embed="rId2"/>
          <a:stretch>
            <a:fillRect/>
          </a:stretch>
        </p:blipFill>
        <p:spPr>
          <a:xfrm>
            <a:off x="182880" y="1222713"/>
            <a:ext cx="5303520" cy="2858092"/>
          </a:xfrm>
          <a:prstGeom prst="rect">
            <a:avLst/>
          </a:prstGeom>
        </p:spPr>
      </p:pic>
      <p:sp>
        <p:nvSpPr>
          <p:cNvPr id="6" name="Rounded Rectangle 5"/>
          <p:cNvSpPr/>
          <p:nvPr/>
        </p:nvSpPr>
        <p:spPr>
          <a:xfrm>
            <a:off x="5669280" y="1005840"/>
            <a:ext cx="3291840" cy="38404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005840"/>
            <a:ext cx="54864" cy="384048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97880" y="1143000"/>
            <a:ext cx="2926080" cy="320040"/>
          </a:xfrm>
          <a:prstGeom prst="rect">
            <a:avLst/>
          </a:prstGeom>
          <a:noFill/>
        </p:spPr>
        <p:txBody>
          <a:bodyPr wrap="none">
            <a:spAutoFit/>
          </a:bodyPr>
          <a:lstStyle/>
          <a:p>
            <a:pPr>
              <a:defRPr sz="1000" b="1">
                <a:solidFill>
                  <a:srgbClr val="FF1744"/>
                </a:solidFill>
                <a:latin typeface="Segoe UI"/>
              </a:defRPr>
            </a:pPr>
            <a:r>
              <a:t>Why this is incorrect:</a:t>
            </a:r>
          </a:p>
        </p:txBody>
      </p:sp>
      <p:sp>
        <p:nvSpPr>
          <p:cNvPr id="9" name="TextBox 8"/>
          <p:cNvSpPr txBox="1"/>
          <p:nvPr/>
        </p:nvSpPr>
        <p:spPr>
          <a:xfrm>
            <a:off x="5897880" y="1508760"/>
            <a:ext cx="2926080" cy="3200400"/>
          </a:xfrm>
          <a:prstGeom prst="rect">
            <a:avLst/>
          </a:prstGeom>
          <a:noFill/>
        </p:spPr>
        <p:txBody>
          <a:bodyPr wrap="square">
            <a:spAutoFit/>
          </a:bodyPr>
          <a:lstStyle/>
          <a:p>
            <a:pPr>
              <a:spcAft>
                <a:spcPts val="600"/>
              </a:spcAft>
              <a:defRPr sz="900">
                <a:solidFill>
                  <a:srgbClr val="263238"/>
                </a:solidFill>
                <a:latin typeface="Segoe UI"/>
              </a:defRPr>
            </a:pPr>
            <a:r>
              <a:t>• SSE encrypts data at rest, not integrity validation</a:t>
            </a:r>
          </a:p>
          <a:p>
            <a:pPr>
              <a:spcAft>
                <a:spcPts val="600"/>
              </a:spcAft>
              <a:defRPr sz="900">
                <a:solidFill>
                  <a:srgbClr val="263238"/>
                </a:solidFill>
                <a:latin typeface="Segoe UI"/>
              </a:defRPr>
            </a:pPr>
            <a:r>
              <a:t>• Encryption doesn't detect or prevent upload corruption</a:t>
            </a:r>
          </a:p>
          <a:p>
            <a:pPr>
              <a:spcAft>
                <a:spcPts val="600"/>
              </a:spcAft>
              <a:defRPr sz="900">
                <a:solidFill>
                  <a:srgbClr val="263238"/>
                </a:solidFill>
                <a:latin typeface="Segoe UI"/>
              </a:defRPr>
            </a:pPr>
            <a:r>
              <a:t>• Doesn't verify content matches source</a:t>
            </a:r>
          </a:p>
          <a:p>
            <a:pPr>
              <a:spcAft>
                <a:spcPts val="600"/>
              </a:spcAft>
              <a:defRPr sz="900">
                <a:solidFill>
                  <a:srgbClr val="263238"/>
                </a:solidFill>
                <a:latin typeface="Segoe UI"/>
              </a:defRPr>
            </a:pPr>
            <a:r>
              <a:t>• Solves a different problem (confidentiality, not integrity)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280160" cy="411480"/>
          </a:xfrm>
          <a:prstGeom prst="roundRect">
            <a:avLst/>
          </a:prstGeom>
          <a:solidFill>
            <a:srgbClr val="00C8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CORRECT</a:t>
            </a:r>
          </a:p>
        </p:txBody>
      </p:sp>
      <p:sp>
        <p:nvSpPr>
          <p:cNvPr id="4" name="TextBox 3"/>
          <p:cNvSpPr txBox="1"/>
          <p:nvPr/>
        </p:nvSpPr>
        <p:spPr>
          <a:xfrm>
            <a:off x="1737360" y="137160"/>
            <a:ext cx="7132320" cy="594360"/>
          </a:xfrm>
          <a:prstGeom prst="rect">
            <a:avLst/>
          </a:prstGeom>
          <a:noFill/>
        </p:spPr>
        <p:txBody>
          <a:bodyPr wrap="square" anchor="ctr">
            <a:spAutoFit/>
          </a:bodyPr>
          <a:lstStyle/>
          <a:p>
            <a:pPr>
              <a:defRPr sz="1000">
                <a:solidFill>
                  <a:srgbClr val="FFFFFF"/>
                </a:solidFill>
                <a:latin typeface="Segoe UI"/>
              </a:defRPr>
            </a:pPr>
            <a:r>
              <a:t>Option B: Utilize the S3 Multipart upload feature with MD5 checksum validation for each part, providing a strong guarantee that files are uploaded successfully and remain unaltered.</a:t>
            </a:r>
          </a:p>
        </p:txBody>
      </p:sp>
      <p:pic>
        <p:nvPicPr>
          <p:cNvPr id="5" name="Picture 4" descr="option_b.png"/>
          <p:cNvPicPr>
            <a:picLocks noChangeAspect="1"/>
          </p:cNvPicPr>
          <p:nvPr/>
        </p:nvPicPr>
        <p:blipFill>
          <a:blip r:embed="rId2"/>
          <a:stretch>
            <a:fillRect/>
          </a:stretch>
        </p:blipFill>
        <p:spPr>
          <a:xfrm>
            <a:off x="182880" y="1097280"/>
            <a:ext cx="1948128" cy="3108960"/>
          </a:xfrm>
          <a:prstGeom prst="rect">
            <a:avLst/>
          </a:prstGeom>
        </p:spPr>
      </p:pic>
      <p:sp>
        <p:nvSpPr>
          <p:cNvPr id="6" name="Rounded Rectangle 5"/>
          <p:cNvSpPr/>
          <p:nvPr/>
        </p:nvSpPr>
        <p:spPr>
          <a:xfrm>
            <a:off x="5669280" y="1005840"/>
            <a:ext cx="3291840" cy="38404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005840"/>
            <a:ext cx="54864" cy="3840480"/>
          </a:xfrm>
          <a:prstGeom prst="rect">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97880" y="1143000"/>
            <a:ext cx="2926080" cy="320040"/>
          </a:xfrm>
          <a:prstGeom prst="rect">
            <a:avLst/>
          </a:prstGeom>
          <a:noFill/>
        </p:spPr>
        <p:txBody>
          <a:bodyPr wrap="none">
            <a:spAutoFit/>
          </a:bodyPr>
          <a:lstStyle/>
          <a:p>
            <a:pPr>
              <a:defRPr sz="1000" b="1">
                <a:solidFill>
                  <a:srgbClr val="00C853"/>
                </a:solidFill>
                <a:latin typeface="Segoe UI"/>
              </a:defRPr>
            </a:pPr>
            <a:r>
              <a:t>Why this is correct:</a:t>
            </a:r>
          </a:p>
        </p:txBody>
      </p:sp>
      <p:sp>
        <p:nvSpPr>
          <p:cNvPr id="9" name="TextBox 8"/>
          <p:cNvSpPr txBox="1"/>
          <p:nvPr/>
        </p:nvSpPr>
        <p:spPr>
          <a:xfrm>
            <a:off x="5897880" y="1508760"/>
            <a:ext cx="2926080" cy="3200400"/>
          </a:xfrm>
          <a:prstGeom prst="rect">
            <a:avLst/>
          </a:prstGeom>
          <a:noFill/>
        </p:spPr>
        <p:txBody>
          <a:bodyPr wrap="square">
            <a:spAutoFit/>
          </a:bodyPr>
          <a:lstStyle/>
          <a:p>
            <a:pPr>
              <a:spcAft>
                <a:spcPts val="600"/>
              </a:spcAft>
              <a:defRPr sz="900">
                <a:solidFill>
                  <a:srgbClr val="263238"/>
                </a:solidFill>
                <a:latin typeface="Segoe UI"/>
              </a:defRPr>
            </a:pPr>
            <a:r>
              <a:t>• Multipart upload splits file into verifiable parts</a:t>
            </a:r>
          </a:p>
          <a:p>
            <a:pPr>
              <a:spcAft>
                <a:spcPts val="600"/>
              </a:spcAft>
              <a:defRPr sz="900">
                <a:solidFill>
                  <a:srgbClr val="263238"/>
                </a:solidFill>
                <a:latin typeface="Segoe UI"/>
              </a:defRPr>
            </a:pPr>
            <a:r>
              <a:t>• MD5 checksum validates each part independently</a:t>
            </a:r>
          </a:p>
          <a:p>
            <a:pPr>
              <a:spcAft>
                <a:spcPts val="600"/>
              </a:spcAft>
              <a:defRPr sz="900">
                <a:solidFill>
                  <a:srgbClr val="263238"/>
                </a:solidFill>
                <a:latin typeface="Segoe UI"/>
              </a:defRPr>
            </a:pPr>
            <a:r>
              <a:t>• S3 rejects parts that fail checksum — guarantees integrity</a:t>
            </a:r>
          </a:p>
          <a:p>
            <a:pPr>
              <a:spcAft>
                <a:spcPts val="600"/>
              </a:spcAft>
              <a:defRPr sz="900">
                <a:solidFill>
                  <a:srgbClr val="263238"/>
                </a:solidFill>
                <a:latin typeface="Segoe UI"/>
              </a:defRPr>
            </a:pPr>
            <a:r>
              <a:t>• 100 MB files benefit from parallel part uploads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280160" cy="411480"/>
          </a:xfrm>
          <a:prstGeom prst="roundRect">
            <a:avLst/>
          </a:prstGeom>
          <a:solidFill>
            <a:srgbClr val="FF1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737360" y="137160"/>
            <a:ext cx="7132320" cy="594360"/>
          </a:xfrm>
          <a:prstGeom prst="rect">
            <a:avLst/>
          </a:prstGeom>
          <a:noFill/>
        </p:spPr>
        <p:txBody>
          <a:bodyPr wrap="square" anchor="ctr">
            <a:spAutoFit/>
          </a:bodyPr>
          <a:lstStyle/>
          <a:p>
            <a:pPr>
              <a:defRPr sz="1000">
                <a:solidFill>
                  <a:srgbClr val="FFFFFF"/>
                </a:solidFill>
                <a:latin typeface="Segoe UI"/>
              </a:defRPr>
            </a:pPr>
            <a:r>
              <a:t>Option C: Enable versioning on the S3 bucket to keep multiple versions of an object, allowing the company to revert to uncorrupted versions if necessary.</a:t>
            </a:r>
          </a:p>
        </p:txBody>
      </p:sp>
      <p:pic>
        <p:nvPicPr>
          <p:cNvPr id="5" name="Picture 4" descr="option_c.png"/>
          <p:cNvPicPr>
            <a:picLocks noChangeAspect="1"/>
          </p:cNvPicPr>
          <p:nvPr/>
        </p:nvPicPr>
        <p:blipFill>
          <a:blip r:embed="rId2"/>
          <a:stretch>
            <a:fillRect/>
          </a:stretch>
        </p:blipFill>
        <p:spPr>
          <a:xfrm>
            <a:off x="182880" y="1097280"/>
            <a:ext cx="3231146" cy="3108960"/>
          </a:xfrm>
          <a:prstGeom prst="rect">
            <a:avLst/>
          </a:prstGeom>
        </p:spPr>
      </p:pic>
      <p:sp>
        <p:nvSpPr>
          <p:cNvPr id="6" name="Rounded Rectangle 5"/>
          <p:cNvSpPr/>
          <p:nvPr/>
        </p:nvSpPr>
        <p:spPr>
          <a:xfrm>
            <a:off x="5669280" y="1005840"/>
            <a:ext cx="3291840" cy="38404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005840"/>
            <a:ext cx="54864" cy="384048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97880" y="1143000"/>
            <a:ext cx="2926080" cy="320040"/>
          </a:xfrm>
          <a:prstGeom prst="rect">
            <a:avLst/>
          </a:prstGeom>
          <a:noFill/>
        </p:spPr>
        <p:txBody>
          <a:bodyPr wrap="none">
            <a:spAutoFit/>
          </a:bodyPr>
          <a:lstStyle/>
          <a:p>
            <a:pPr>
              <a:defRPr sz="1000" b="1">
                <a:solidFill>
                  <a:srgbClr val="FF1744"/>
                </a:solidFill>
                <a:latin typeface="Segoe UI"/>
              </a:defRPr>
            </a:pPr>
            <a:r>
              <a:t>Why this is incorrect:</a:t>
            </a:r>
          </a:p>
        </p:txBody>
      </p:sp>
      <p:sp>
        <p:nvSpPr>
          <p:cNvPr id="9" name="TextBox 8"/>
          <p:cNvSpPr txBox="1"/>
          <p:nvPr/>
        </p:nvSpPr>
        <p:spPr>
          <a:xfrm>
            <a:off x="5897880" y="1508760"/>
            <a:ext cx="2926080" cy="3200400"/>
          </a:xfrm>
          <a:prstGeom prst="rect">
            <a:avLst/>
          </a:prstGeom>
          <a:noFill/>
        </p:spPr>
        <p:txBody>
          <a:bodyPr wrap="square">
            <a:spAutoFit/>
          </a:bodyPr>
          <a:lstStyle/>
          <a:p>
            <a:pPr>
              <a:spcAft>
                <a:spcPts val="600"/>
              </a:spcAft>
              <a:defRPr sz="900">
                <a:solidFill>
                  <a:srgbClr val="263238"/>
                </a:solidFill>
                <a:latin typeface="Segoe UI"/>
              </a:defRPr>
            </a:pPr>
            <a:r>
              <a:t>• Versioning keeps old copies but doesn't prevent corruption</a:t>
            </a:r>
          </a:p>
          <a:p>
            <a:pPr>
              <a:spcAft>
                <a:spcPts val="600"/>
              </a:spcAft>
              <a:defRPr sz="900">
                <a:solidFill>
                  <a:srgbClr val="263238"/>
                </a:solidFill>
                <a:latin typeface="Segoe UI"/>
              </a:defRPr>
            </a:pPr>
            <a:r>
              <a:t>• Doesn't detect corruption at upload time</a:t>
            </a:r>
          </a:p>
          <a:p>
            <a:pPr>
              <a:spcAft>
                <a:spcPts val="600"/>
              </a:spcAft>
              <a:defRPr sz="900">
                <a:solidFill>
                  <a:srgbClr val="263238"/>
                </a:solidFill>
                <a:latin typeface="Segoe UI"/>
              </a:defRPr>
            </a:pPr>
            <a:r>
              <a:t>• Reactive approach — corruption already happened</a:t>
            </a:r>
          </a:p>
          <a:p>
            <a:pPr>
              <a:spcAft>
                <a:spcPts val="600"/>
              </a:spcAft>
              <a:defRPr sz="900">
                <a:solidFill>
                  <a:srgbClr val="263238"/>
                </a:solidFill>
                <a:latin typeface="Segoe UI"/>
              </a:defRPr>
            </a:pPr>
            <a:r>
              <a:t>• Adds storage cost without solving root cause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280160" cy="411480"/>
          </a:xfrm>
          <a:prstGeom prst="roundRect">
            <a:avLst/>
          </a:prstGeom>
          <a:solidFill>
            <a:srgbClr val="FF1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737360" y="137160"/>
            <a:ext cx="7132320" cy="594360"/>
          </a:xfrm>
          <a:prstGeom prst="rect">
            <a:avLst/>
          </a:prstGeom>
          <a:noFill/>
        </p:spPr>
        <p:txBody>
          <a:bodyPr wrap="square" anchor="ctr">
            <a:spAutoFit/>
          </a:bodyPr>
          <a:lstStyle/>
          <a:p>
            <a:pPr>
              <a:defRPr sz="1000">
                <a:solidFill>
                  <a:srgbClr val="FFFFFF"/>
                </a:solidFill>
                <a:latin typeface="Segoe UI"/>
              </a:defRPr>
            </a:pPr>
            <a:r>
              <a:t>Option D: Implement S3 Transfer Acceleration to increase the speed of file transfers and reduce the likelihood of corruption due to connection issues.</a:t>
            </a:r>
          </a:p>
        </p:txBody>
      </p:sp>
      <p:pic>
        <p:nvPicPr>
          <p:cNvPr id="5" name="Picture 4" descr="option_d.png"/>
          <p:cNvPicPr>
            <a:picLocks noChangeAspect="1"/>
          </p:cNvPicPr>
          <p:nvPr/>
        </p:nvPicPr>
        <p:blipFill>
          <a:blip r:embed="rId2"/>
          <a:stretch>
            <a:fillRect/>
          </a:stretch>
        </p:blipFill>
        <p:spPr>
          <a:xfrm>
            <a:off x="182880" y="1533656"/>
            <a:ext cx="5303520" cy="2236207"/>
          </a:xfrm>
          <a:prstGeom prst="rect">
            <a:avLst/>
          </a:prstGeom>
        </p:spPr>
      </p:pic>
      <p:sp>
        <p:nvSpPr>
          <p:cNvPr id="6" name="Rounded Rectangle 5"/>
          <p:cNvSpPr/>
          <p:nvPr/>
        </p:nvSpPr>
        <p:spPr>
          <a:xfrm>
            <a:off x="5669280" y="1005840"/>
            <a:ext cx="3291840" cy="38404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005840"/>
            <a:ext cx="54864" cy="384048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97880" y="1143000"/>
            <a:ext cx="2926080" cy="320040"/>
          </a:xfrm>
          <a:prstGeom prst="rect">
            <a:avLst/>
          </a:prstGeom>
          <a:noFill/>
        </p:spPr>
        <p:txBody>
          <a:bodyPr wrap="none">
            <a:spAutoFit/>
          </a:bodyPr>
          <a:lstStyle/>
          <a:p>
            <a:pPr>
              <a:defRPr sz="1000" b="1">
                <a:solidFill>
                  <a:srgbClr val="FF1744"/>
                </a:solidFill>
                <a:latin typeface="Segoe UI"/>
              </a:defRPr>
            </a:pPr>
            <a:r>
              <a:t>Why this is incorrect:</a:t>
            </a:r>
          </a:p>
        </p:txBody>
      </p:sp>
      <p:sp>
        <p:nvSpPr>
          <p:cNvPr id="9" name="TextBox 8"/>
          <p:cNvSpPr txBox="1"/>
          <p:nvPr/>
        </p:nvSpPr>
        <p:spPr>
          <a:xfrm>
            <a:off x="5897880" y="1508760"/>
            <a:ext cx="2926080" cy="3200400"/>
          </a:xfrm>
          <a:prstGeom prst="rect">
            <a:avLst/>
          </a:prstGeom>
          <a:noFill/>
        </p:spPr>
        <p:txBody>
          <a:bodyPr wrap="square">
            <a:spAutoFit/>
          </a:bodyPr>
          <a:lstStyle/>
          <a:p>
            <a:pPr>
              <a:spcAft>
                <a:spcPts val="600"/>
              </a:spcAft>
              <a:defRPr sz="900">
                <a:solidFill>
                  <a:srgbClr val="263238"/>
                </a:solidFill>
                <a:latin typeface="Segoe UI"/>
              </a:defRPr>
            </a:pPr>
            <a:r>
              <a:t>• Transfer Acceleration speeds up uploads via edge locations</a:t>
            </a:r>
          </a:p>
          <a:p>
            <a:pPr>
              <a:spcAft>
                <a:spcPts val="600"/>
              </a:spcAft>
              <a:defRPr sz="900">
                <a:solidFill>
                  <a:srgbClr val="263238"/>
                </a:solidFill>
                <a:latin typeface="Segoe UI"/>
              </a:defRPr>
            </a:pPr>
            <a:r>
              <a:t>• Speed doesn't guarantee data integrity</a:t>
            </a:r>
          </a:p>
          <a:p>
            <a:pPr>
              <a:spcAft>
                <a:spcPts val="600"/>
              </a:spcAft>
              <a:defRPr sz="900">
                <a:solidFill>
                  <a:srgbClr val="263238"/>
                </a:solidFill>
                <a:latin typeface="Segoe UI"/>
              </a:defRPr>
            </a:pPr>
            <a:r>
              <a:t>• Doesn't validate content matches source</a:t>
            </a:r>
          </a:p>
          <a:p>
            <a:pPr>
              <a:spcAft>
                <a:spcPts val="600"/>
              </a:spcAft>
              <a:defRPr sz="900">
                <a:solidFill>
                  <a:srgbClr val="263238"/>
                </a:solidFill>
                <a:latin typeface="Segoe UI"/>
              </a:defRPr>
            </a:pPr>
            <a:r>
              <a:t>• Addresses latency, not corruption detection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