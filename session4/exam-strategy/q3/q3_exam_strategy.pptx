
<file path=[Content_Types].xml><?xml version="1.0" encoding="utf-8"?>
<Types xmlns="http://schemas.openxmlformats.org/package/2006/content-types">
  <Default Extension="bin" ContentType="application/vnd.openxmlformats-officedocument.presentationml.printerSettings"/>
  <Default Extension="gif" ContentType="image/gi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slide1.xml><?xml version="1.0" encoding="utf-8"?>
<p:sld xmlns:a="http://schemas.openxmlformats.org/drawingml/2006/main" xmlns:p="http://schemas.openxmlformats.org/presentationml/2006/main" xmlns:r="http://schemas.openxmlformats.org/officeDocument/2006/relationships">
  <p:cSld>
    <p:bg>
      <p:bgPr>
        <a:gradFill rotWithShape="1">
          <a:gsLst>
            <a:gs pos="0">
              <a:srgbClr val="0D1B2A"/>
            </a:gs>
            <a:gs pos="100000">
              <a:srgbClr val="09121C"/>
            </a:gs>
          </a:gsLst>
          <a:lin scaled="0"/>
        </a:gradFill>
        <a:effectLst/>
      </p:bgPr>
    </p:bg>
    <p:spTree>
      <p:nvGrpSpPr>
        <p:cNvPr id="1" name=""/>
        <p:cNvGrpSpPr/>
        <p:nvPr/>
      </p:nvGrpSpPr>
      <p:grpSpPr/>
      <p:sp>
        <p:nvSpPr>
          <p:cNvPr id="2" name="Rectangle 1"/>
          <p:cNvSpPr/>
          <p:nvPr/>
        </p:nvSpPr>
        <p:spPr>
          <a:xfrm>
            <a:off x="0" y="0"/>
            <a:ext cx="73152" cy="5143500"/>
          </a:xfrm>
          <a:prstGeom prst="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28600"/>
            <a:ext cx="5943600" cy="457200"/>
          </a:xfrm>
          <a:prstGeom prst="rect">
            <a:avLst/>
          </a:prstGeom>
          <a:noFill/>
        </p:spPr>
        <p:txBody>
          <a:bodyPr wrap="none">
            <a:spAutoFit/>
          </a:bodyPr>
          <a:lstStyle/>
          <a:p>
            <a:pPr>
              <a:defRPr sz="2000" b="1">
                <a:solidFill>
                  <a:srgbClr val="1E88E5"/>
                </a:solidFill>
                <a:latin typeface="Segoe UI"/>
              </a:defRPr>
            </a:pPr>
            <a:r>
              <a:t>PII Detection &amp; Masking</a:t>
            </a:r>
          </a:p>
        </p:txBody>
      </p:sp>
      <p:sp>
        <p:nvSpPr>
          <p:cNvPr id="4" name="TextBox 3"/>
          <p:cNvSpPr txBox="1"/>
          <p:nvPr/>
        </p:nvSpPr>
        <p:spPr>
          <a:xfrm>
            <a:off x="365760" y="731520"/>
            <a:ext cx="6583680" cy="1371600"/>
          </a:xfrm>
          <a:prstGeom prst="rect">
            <a:avLst/>
          </a:prstGeom>
          <a:noFill/>
        </p:spPr>
        <p:txBody>
          <a:bodyPr wrap="square">
            <a:spAutoFit/>
          </a:bodyPr>
          <a:lstStyle/>
          <a:p>
            <a:pPr>
              <a:defRPr sz="1100">
                <a:solidFill>
                  <a:srgbClr val="FFFFFF"/>
                </a:solidFill>
                <a:latin typeface="Segoe UI"/>
              </a:defRPr>
            </a:pPr>
            <a:r>
              <a:t>An e-commerce company collects data in an S3 data lake that includes PII. They need an automated solution to identify PII in new and existing data, provide an overview for the security audit team, and invoke a masking application in real time when PII is found.</a:t>
            </a:r>
            <a:br/>
            <a:br/>
            <a:r>
              <a:t>Which solution meets these requirements with the LEAST operational overhead?</a:t>
            </a:r>
          </a:p>
        </p:txBody>
      </p:sp>
      <p:sp>
        <p:nvSpPr>
          <p:cNvPr id="5" name="Oval 4"/>
          <p:cNvSpPr/>
          <p:nvPr/>
        </p:nvSpPr>
        <p:spPr>
          <a:xfrm>
            <a:off x="457200" y="2176272"/>
            <a:ext cx="292608" cy="292608"/>
          </a:xfrm>
          <a:prstGeom prst="ellipse">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000" b="1">
                <a:solidFill>
                  <a:srgbClr val="FFFFFF"/>
                </a:solidFill>
              </a:defRPr>
            </a:pPr>
            <a:r>
              <a:t>A</a:t>
            </a:r>
          </a:p>
        </p:txBody>
      </p:sp>
      <p:sp>
        <p:nvSpPr>
          <p:cNvPr id="6" name="TextBox 5"/>
          <p:cNvSpPr txBox="1"/>
          <p:nvPr/>
        </p:nvSpPr>
        <p:spPr>
          <a:xfrm>
            <a:off x="868680" y="2194560"/>
            <a:ext cx="6400800" cy="365760"/>
          </a:xfrm>
          <a:prstGeom prst="rect">
            <a:avLst/>
          </a:prstGeom>
          <a:noFill/>
        </p:spPr>
        <p:txBody>
          <a:bodyPr wrap="square">
            <a:spAutoFit/>
          </a:bodyPr>
          <a:lstStyle/>
          <a:p>
            <a:pPr>
              <a:defRPr sz="1000">
                <a:solidFill>
                  <a:srgbClr val="ECEFF1"/>
                </a:solidFill>
                <a:latin typeface="Segoe UI"/>
              </a:defRPr>
            </a:pPr>
            <a:r>
              <a:t>Create an AWS Lambda function to analyze data for PII. Configure S3 bucket notifications to invoke Lambda when a new object is uploaded.</a:t>
            </a:r>
          </a:p>
        </p:txBody>
      </p:sp>
      <p:sp>
        <p:nvSpPr>
          <p:cNvPr id="7" name="Oval 6"/>
          <p:cNvSpPr/>
          <p:nvPr/>
        </p:nvSpPr>
        <p:spPr>
          <a:xfrm>
            <a:off x="457200" y="2706624"/>
            <a:ext cx="292608" cy="292608"/>
          </a:xfrm>
          <a:prstGeom prst="ellipse">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000" b="1">
                <a:solidFill>
                  <a:srgbClr val="FFFFFF"/>
                </a:solidFill>
              </a:defRPr>
            </a:pPr>
            <a:r>
              <a:t>B</a:t>
            </a:r>
          </a:p>
        </p:txBody>
      </p:sp>
      <p:sp>
        <p:nvSpPr>
          <p:cNvPr id="8" name="TextBox 7"/>
          <p:cNvSpPr txBox="1"/>
          <p:nvPr/>
        </p:nvSpPr>
        <p:spPr>
          <a:xfrm>
            <a:off x="868680" y="2724912"/>
            <a:ext cx="6400800" cy="365760"/>
          </a:xfrm>
          <a:prstGeom prst="rect">
            <a:avLst/>
          </a:prstGeom>
          <a:noFill/>
        </p:spPr>
        <p:txBody>
          <a:bodyPr wrap="square">
            <a:spAutoFit/>
          </a:bodyPr>
          <a:lstStyle/>
          <a:p>
            <a:pPr>
              <a:defRPr sz="1000">
                <a:solidFill>
                  <a:srgbClr val="ECEFF1"/>
                </a:solidFill>
                <a:latin typeface="Segoe UI"/>
              </a:defRPr>
            </a:pPr>
            <a:r>
              <a:t>Configure S3 bucket notifications with an EventBridge rule for new object uploads. Set the masking application as the target.</a:t>
            </a:r>
          </a:p>
        </p:txBody>
      </p:sp>
      <p:sp>
        <p:nvSpPr>
          <p:cNvPr id="9" name="Oval 8"/>
          <p:cNvSpPr/>
          <p:nvPr/>
        </p:nvSpPr>
        <p:spPr>
          <a:xfrm>
            <a:off x="457200" y="3236976"/>
            <a:ext cx="292608" cy="292608"/>
          </a:xfrm>
          <a:prstGeom prst="ellipse">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000" b="1">
                <a:solidFill>
                  <a:srgbClr val="FFFFFF"/>
                </a:solidFill>
              </a:defRPr>
            </a:pPr>
            <a:r>
              <a:t>C</a:t>
            </a:r>
          </a:p>
        </p:txBody>
      </p:sp>
      <p:sp>
        <p:nvSpPr>
          <p:cNvPr id="10" name="TextBox 9"/>
          <p:cNvSpPr txBox="1"/>
          <p:nvPr/>
        </p:nvSpPr>
        <p:spPr>
          <a:xfrm>
            <a:off x="868680" y="3255264"/>
            <a:ext cx="6400800" cy="365760"/>
          </a:xfrm>
          <a:prstGeom prst="rect">
            <a:avLst/>
          </a:prstGeom>
          <a:noFill/>
        </p:spPr>
        <p:txBody>
          <a:bodyPr wrap="square">
            <a:spAutoFit/>
          </a:bodyPr>
          <a:lstStyle/>
          <a:p>
            <a:pPr>
              <a:defRPr sz="1000">
                <a:solidFill>
                  <a:srgbClr val="ECEFF1"/>
                </a:solidFill>
                <a:latin typeface="Segoe UI"/>
              </a:defRPr>
            </a:pPr>
            <a:r>
              <a:t>Enable Amazon Macie. Create an EventBridge rule for Macie findings. Set the masking application as the target.</a:t>
            </a:r>
          </a:p>
        </p:txBody>
      </p:sp>
      <p:sp>
        <p:nvSpPr>
          <p:cNvPr id="11" name="Oval 10"/>
          <p:cNvSpPr/>
          <p:nvPr/>
        </p:nvSpPr>
        <p:spPr>
          <a:xfrm>
            <a:off x="457200" y="3767328"/>
            <a:ext cx="292608" cy="292608"/>
          </a:xfrm>
          <a:prstGeom prst="ellipse">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000" b="1">
                <a:solidFill>
                  <a:srgbClr val="FFFFFF"/>
                </a:solidFill>
              </a:defRPr>
            </a:pPr>
            <a:r>
              <a:t>D</a:t>
            </a:r>
          </a:p>
        </p:txBody>
      </p:sp>
      <p:sp>
        <p:nvSpPr>
          <p:cNvPr id="12" name="TextBox 11"/>
          <p:cNvSpPr txBox="1"/>
          <p:nvPr/>
        </p:nvSpPr>
        <p:spPr>
          <a:xfrm>
            <a:off x="868680" y="3785615"/>
            <a:ext cx="6400800" cy="365760"/>
          </a:xfrm>
          <a:prstGeom prst="rect">
            <a:avLst/>
          </a:prstGeom>
          <a:noFill/>
        </p:spPr>
        <p:txBody>
          <a:bodyPr wrap="square">
            <a:spAutoFit/>
          </a:bodyPr>
          <a:lstStyle/>
          <a:p>
            <a:pPr>
              <a:defRPr sz="1000">
                <a:solidFill>
                  <a:srgbClr val="ECEFF1"/>
                </a:solidFill>
                <a:latin typeface="Segoe UI"/>
              </a:defRPr>
            </a:pPr>
            <a:r>
              <a:t>Enable Amazon Macie. Create a Lambda function on a schedule to poll Macie findings and invoke the masking application.</a:t>
            </a:r>
          </a:p>
        </p:txBody>
      </p:sp>
      <p:sp>
        <p:nvSpPr>
          <p:cNvPr id="13" name="Rounded Rectangle 12"/>
          <p:cNvSpPr/>
          <p:nvPr/>
        </p:nvSpPr>
        <p:spPr>
          <a:xfrm>
            <a:off x="7040880" y="274320"/>
            <a:ext cx="1920240" cy="2103120"/>
          </a:xfrm>
          <a:prstGeom prst="roundRect">
            <a:avLst/>
          </a:prstGeom>
          <a:solidFill>
            <a:srgbClr val="1A23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0" y="365760"/>
            <a:ext cx="1737360" cy="320040"/>
          </a:xfrm>
          <a:prstGeom prst="rect">
            <a:avLst/>
          </a:prstGeom>
          <a:noFill/>
        </p:spPr>
        <p:txBody>
          <a:bodyPr wrap="none" anchor="ctr">
            <a:spAutoFit/>
          </a:bodyPr>
          <a:lstStyle/>
          <a:p>
            <a:pPr algn="ctr">
              <a:defRPr sz="900" b="1">
                <a:solidFill>
                  <a:srgbClr val="00E676"/>
                </a:solidFill>
                <a:latin typeface="Segoe UI"/>
              </a:defRPr>
            </a:pPr>
            <a:r>
              <a:t>⏱ TIME</a:t>
            </a:r>
          </a:p>
        </p:txBody>
      </p:sp>
      <p:pic>
        <p:nvPicPr>
          <p:cNvPr id="15" name="Picture 14" descr="countdown_2min.gif"/>
          <p:cNvPicPr>
            <a:picLocks noChangeAspect="1"/>
          </p:cNvPicPr>
          <p:nvPr/>
        </p:nvPicPr>
        <p:blipFill>
          <a:blip r:embed="rId2"/>
          <a:stretch>
            <a:fillRect/>
          </a:stretch>
        </p:blipFill>
        <p:spPr>
          <a:xfrm>
            <a:off x="7315200" y="640080"/>
            <a:ext cx="1554480" cy="155448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9144000" cy="8229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182880"/>
            <a:ext cx="1280160" cy="411480"/>
          </a:xfrm>
          <a:prstGeom prst="roundRect">
            <a:avLst/>
          </a:prstGeom>
          <a:solidFill>
            <a:srgbClr val="FF1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 INCORRECT</a:t>
            </a:r>
          </a:p>
        </p:txBody>
      </p:sp>
      <p:sp>
        <p:nvSpPr>
          <p:cNvPr id="4" name="TextBox 3"/>
          <p:cNvSpPr txBox="1"/>
          <p:nvPr/>
        </p:nvSpPr>
        <p:spPr>
          <a:xfrm>
            <a:off x="1737360" y="137160"/>
            <a:ext cx="7132320" cy="594360"/>
          </a:xfrm>
          <a:prstGeom prst="rect">
            <a:avLst/>
          </a:prstGeom>
          <a:noFill/>
        </p:spPr>
        <p:txBody>
          <a:bodyPr wrap="square" anchor="ctr">
            <a:spAutoFit/>
          </a:bodyPr>
          <a:lstStyle/>
          <a:p>
            <a:pPr>
              <a:defRPr sz="1000">
                <a:solidFill>
                  <a:srgbClr val="FFFFFF"/>
                </a:solidFill>
                <a:latin typeface="Segoe UI"/>
              </a:defRPr>
            </a:pPr>
            <a:r>
              <a:t>Option A: Create an AWS Lambda function to analyze data for PII. Configure S3 bucket notifications to invoke Lambda when a new object is uploaded.</a:t>
            </a:r>
          </a:p>
        </p:txBody>
      </p:sp>
      <p:pic>
        <p:nvPicPr>
          <p:cNvPr id="5" name="Picture 4" descr="option_a.png"/>
          <p:cNvPicPr>
            <a:picLocks noChangeAspect="1"/>
          </p:cNvPicPr>
          <p:nvPr/>
        </p:nvPicPr>
        <p:blipFill>
          <a:blip r:embed="rId2"/>
          <a:stretch>
            <a:fillRect/>
          </a:stretch>
        </p:blipFill>
        <p:spPr>
          <a:xfrm>
            <a:off x="182880" y="1551029"/>
            <a:ext cx="5303520" cy="2201461"/>
          </a:xfrm>
          <a:prstGeom prst="rect">
            <a:avLst/>
          </a:prstGeom>
        </p:spPr>
      </p:pic>
      <p:sp>
        <p:nvSpPr>
          <p:cNvPr id="6" name="Rounded Rectangle 5"/>
          <p:cNvSpPr/>
          <p:nvPr/>
        </p:nvSpPr>
        <p:spPr>
          <a:xfrm>
            <a:off x="5669280" y="1005840"/>
            <a:ext cx="3291840" cy="384048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0" y="1005840"/>
            <a:ext cx="54864" cy="3840480"/>
          </a:xfrm>
          <a:prstGeom prst="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97880" y="1143000"/>
            <a:ext cx="2926080" cy="320040"/>
          </a:xfrm>
          <a:prstGeom prst="rect">
            <a:avLst/>
          </a:prstGeom>
          <a:noFill/>
        </p:spPr>
        <p:txBody>
          <a:bodyPr wrap="none">
            <a:spAutoFit/>
          </a:bodyPr>
          <a:lstStyle/>
          <a:p>
            <a:pPr>
              <a:defRPr sz="1000" b="1">
                <a:solidFill>
                  <a:srgbClr val="FF1744"/>
                </a:solidFill>
                <a:latin typeface="Segoe UI"/>
              </a:defRPr>
            </a:pPr>
            <a:r>
              <a:t>Why this is incorrect:</a:t>
            </a:r>
          </a:p>
        </p:txBody>
      </p:sp>
      <p:sp>
        <p:nvSpPr>
          <p:cNvPr id="9" name="TextBox 8"/>
          <p:cNvSpPr txBox="1"/>
          <p:nvPr/>
        </p:nvSpPr>
        <p:spPr>
          <a:xfrm>
            <a:off x="5897880" y="1508760"/>
            <a:ext cx="2926080" cy="3200400"/>
          </a:xfrm>
          <a:prstGeom prst="rect">
            <a:avLst/>
          </a:prstGeom>
          <a:noFill/>
        </p:spPr>
        <p:txBody>
          <a:bodyPr wrap="square">
            <a:spAutoFit/>
          </a:bodyPr>
          <a:lstStyle/>
          <a:p>
            <a:pPr>
              <a:spcAft>
                <a:spcPts val="600"/>
              </a:spcAft>
              <a:defRPr sz="900">
                <a:solidFill>
                  <a:srgbClr val="263238"/>
                </a:solidFill>
                <a:latin typeface="Segoe UI"/>
              </a:defRPr>
            </a:pPr>
            <a:r>
              <a:t>• Requires building custom PII detection logic</a:t>
            </a:r>
          </a:p>
          <a:p>
            <a:pPr>
              <a:spcAft>
                <a:spcPts val="600"/>
              </a:spcAft>
              <a:defRPr sz="900">
                <a:solidFill>
                  <a:srgbClr val="263238"/>
                </a:solidFill>
                <a:latin typeface="Segoe UI"/>
              </a:defRPr>
            </a:pPr>
            <a:r>
              <a:t>• Only scans new uploads, not existing data</a:t>
            </a:r>
          </a:p>
          <a:p>
            <a:pPr>
              <a:spcAft>
                <a:spcPts val="600"/>
              </a:spcAft>
              <a:defRPr sz="900">
                <a:solidFill>
                  <a:srgbClr val="263238"/>
                </a:solidFill>
                <a:latin typeface="Segoe UI"/>
              </a:defRPr>
            </a:pPr>
            <a:r>
              <a:t>• No built-in reporting for security audit team</a:t>
            </a:r>
          </a:p>
          <a:p>
            <a:pPr>
              <a:spcAft>
                <a:spcPts val="600"/>
              </a:spcAft>
              <a:defRPr sz="900">
                <a:solidFill>
                  <a:srgbClr val="263238"/>
                </a:solidFill>
                <a:latin typeface="Segoe UI"/>
              </a:defRPr>
            </a:pPr>
            <a:r>
              <a:t>• High operational overhead to maintain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9144000" cy="8229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182880"/>
            <a:ext cx="1280160" cy="411480"/>
          </a:xfrm>
          <a:prstGeom prst="roundRect">
            <a:avLst/>
          </a:prstGeom>
          <a:solidFill>
            <a:srgbClr val="FF1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 INCORRECT</a:t>
            </a:r>
          </a:p>
        </p:txBody>
      </p:sp>
      <p:sp>
        <p:nvSpPr>
          <p:cNvPr id="4" name="TextBox 3"/>
          <p:cNvSpPr txBox="1"/>
          <p:nvPr/>
        </p:nvSpPr>
        <p:spPr>
          <a:xfrm>
            <a:off x="1737360" y="137160"/>
            <a:ext cx="7132320" cy="594360"/>
          </a:xfrm>
          <a:prstGeom prst="rect">
            <a:avLst/>
          </a:prstGeom>
          <a:noFill/>
        </p:spPr>
        <p:txBody>
          <a:bodyPr wrap="square" anchor="ctr">
            <a:spAutoFit/>
          </a:bodyPr>
          <a:lstStyle/>
          <a:p>
            <a:pPr>
              <a:defRPr sz="1000">
                <a:solidFill>
                  <a:srgbClr val="FFFFFF"/>
                </a:solidFill>
                <a:latin typeface="Segoe UI"/>
              </a:defRPr>
            </a:pPr>
            <a:r>
              <a:t>Option B: Configure S3 bucket notifications with an EventBridge rule for new object uploads. Set the masking application as the target.</a:t>
            </a:r>
          </a:p>
        </p:txBody>
      </p:sp>
      <p:pic>
        <p:nvPicPr>
          <p:cNvPr id="5" name="Picture 4" descr="option_b.png"/>
          <p:cNvPicPr>
            <a:picLocks noChangeAspect="1"/>
          </p:cNvPicPr>
          <p:nvPr/>
        </p:nvPicPr>
        <p:blipFill>
          <a:blip r:embed="rId2"/>
          <a:stretch>
            <a:fillRect/>
          </a:stretch>
        </p:blipFill>
        <p:spPr>
          <a:xfrm>
            <a:off x="182880" y="1621712"/>
            <a:ext cx="5303520" cy="2060095"/>
          </a:xfrm>
          <a:prstGeom prst="rect">
            <a:avLst/>
          </a:prstGeom>
        </p:spPr>
      </p:pic>
      <p:sp>
        <p:nvSpPr>
          <p:cNvPr id="6" name="Rounded Rectangle 5"/>
          <p:cNvSpPr/>
          <p:nvPr/>
        </p:nvSpPr>
        <p:spPr>
          <a:xfrm>
            <a:off x="5669280" y="1005840"/>
            <a:ext cx="3291840" cy="384048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0" y="1005840"/>
            <a:ext cx="54864" cy="3840480"/>
          </a:xfrm>
          <a:prstGeom prst="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97880" y="1143000"/>
            <a:ext cx="2926080" cy="320040"/>
          </a:xfrm>
          <a:prstGeom prst="rect">
            <a:avLst/>
          </a:prstGeom>
          <a:noFill/>
        </p:spPr>
        <p:txBody>
          <a:bodyPr wrap="none">
            <a:spAutoFit/>
          </a:bodyPr>
          <a:lstStyle/>
          <a:p>
            <a:pPr>
              <a:defRPr sz="1000" b="1">
                <a:solidFill>
                  <a:srgbClr val="FF1744"/>
                </a:solidFill>
                <a:latin typeface="Segoe UI"/>
              </a:defRPr>
            </a:pPr>
            <a:r>
              <a:t>Why this is incorrect:</a:t>
            </a:r>
          </a:p>
        </p:txBody>
      </p:sp>
      <p:sp>
        <p:nvSpPr>
          <p:cNvPr id="9" name="TextBox 8"/>
          <p:cNvSpPr txBox="1"/>
          <p:nvPr/>
        </p:nvSpPr>
        <p:spPr>
          <a:xfrm>
            <a:off x="5897880" y="1508760"/>
            <a:ext cx="2926080" cy="3200400"/>
          </a:xfrm>
          <a:prstGeom prst="rect">
            <a:avLst/>
          </a:prstGeom>
          <a:noFill/>
        </p:spPr>
        <p:txBody>
          <a:bodyPr wrap="square">
            <a:spAutoFit/>
          </a:bodyPr>
          <a:lstStyle/>
          <a:p>
            <a:pPr>
              <a:spcAft>
                <a:spcPts val="600"/>
              </a:spcAft>
              <a:defRPr sz="900">
                <a:solidFill>
                  <a:srgbClr val="263238"/>
                </a:solidFill>
                <a:latin typeface="Segoe UI"/>
              </a:defRPr>
            </a:pPr>
            <a:r>
              <a:t>• No PII identification step at all</a:t>
            </a:r>
          </a:p>
          <a:p>
            <a:pPr>
              <a:spcAft>
                <a:spcPts val="600"/>
              </a:spcAft>
              <a:defRPr sz="900">
                <a:solidFill>
                  <a:srgbClr val="263238"/>
                </a:solidFill>
                <a:latin typeface="Segoe UI"/>
              </a:defRPr>
            </a:pPr>
            <a:r>
              <a:t>• Triggers masking on every upload blindly</a:t>
            </a:r>
          </a:p>
          <a:p>
            <a:pPr>
              <a:spcAft>
                <a:spcPts val="600"/>
              </a:spcAft>
              <a:defRPr sz="900">
                <a:solidFill>
                  <a:srgbClr val="263238"/>
                </a:solidFill>
                <a:latin typeface="Segoe UI"/>
              </a:defRPr>
            </a:pPr>
            <a:r>
              <a:t>• Wasteful — processes files without PII</a:t>
            </a:r>
          </a:p>
          <a:p>
            <a:pPr>
              <a:spcAft>
                <a:spcPts val="600"/>
              </a:spcAft>
              <a:defRPr sz="900">
                <a:solidFill>
                  <a:srgbClr val="263238"/>
                </a:solidFill>
                <a:latin typeface="Segoe UI"/>
              </a:defRPr>
            </a:pPr>
            <a:r>
              <a:t>• Doesn't meet the 'identify PII' requirement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9144000" cy="8229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182880"/>
            <a:ext cx="1280160" cy="411480"/>
          </a:xfrm>
          <a:prstGeom prst="roundRect">
            <a:avLst/>
          </a:prstGeom>
          <a:solidFill>
            <a:srgbClr val="00C8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 CORRECT</a:t>
            </a:r>
          </a:p>
        </p:txBody>
      </p:sp>
      <p:sp>
        <p:nvSpPr>
          <p:cNvPr id="4" name="TextBox 3"/>
          <p:cNvSpPr txBox="1"/>
          <p:nvPr/>
        </p:nvSpPr>
        <p:spPr>
          <a:xfrm>
            <a:off x="1737360" y="137160"/>
            <a:ext cx="7132320" cy="594360"/>
          </a:xfrm>
          <a:prstGeom prst="rect">
            <a:avLst/>
          </a:prstGeom>
          <a:noFill/>
        </p:spPr>
        <p:txBody>
          <a:bodyPr wrap="square" anchor="ctr">
            <a:spAutoFit/>
          </a:bodyPr>
          <a:lstStyle/>
          <a:p>
            <a:pPr>
              <a:defRPr sz="1000">
                <a:solidFill>
                  <a:srgbClr val="FFFFFF"/>
                </a:solidFill>
                <a:latin typeface="Segoe UI"/>
              </a:defRPr>
            </a:pPr>
            <a:r>
              <a:t>Option C: Enable Amazon Macie. Create an EventBridge rule for Macie findings. Set the masking application as the target.</a:t>
            </a:r>
          </a:p>
        </p:txBody>
      </p:sp>
      <p:pic>
        <p:nvPicPr>
          <p:cNvPr id="5" name="Picture 4" descr="option_c.png"/>
          <p:cNvPicPr>
            <a:picLocks noChangeAspect="1"/>
          </p:cNvPicPr>
          <p:nvPr/>
        </p:nvPicPr>
        <p:blipFill>
          <a:blip r:embed="rId2"/>
          <a:stretch>
            <a:fillRect/>
          </a:stretch>
        </p:blipFill>
        <p:spPr>
          <a:xfrm>
            <a:off x="182880" y="1889577"/>
            <a:ext cx="5303520" cy="1524365"/>
          </a:xfrm>
          <a:prstGeom prst="rect">
            <a:avLst/>
          </a:prstGeom>
        </p:spPr>
      </p:pic>
      <p:sp>
        <p:nvSpPr>
          <p:cNvPr id="6" name="Rounded Rectangle 5"/>
          <p:cNvSpPr/>
          <p:nvPr/>
        </p:nvSpPr>
        <p:spPr>
          <a:xfrm>
            <a:off x="5669280" y="1005840"/>
            <a:ext cx="3291840" cy="384048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0" y="1005840"/>
            <a:ext cx="54864" cy="3840480"/>
          </a:xfrm>
          <a:prstGeom prst="rect">
            <a:avLst/>
          </a:prstGeom>
          <a:solidFill>
            <a:srgbClr val="00C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97880" y="1143000"/>
            <a:ext cx="2926080" cy="320040"/>
          </a:xfrm>
          <a:prstGeom prst="rect">
            <a:avLst/>
          </a:prstGeom>
          <a:noFill/>
        </p:spPr>
        <p:txBody>
          <a:bodyPr wrap="none">
            <a:spAutoFit/>
          </a:bodyPr>
          <a:lstStyle/>
          <a:p>
            <a:pPr>
              <a:defRPr sz="1000" b="1">
                <a:solidFill>
                  <a:srgbClr val="00C853"/>
                </a:solidFill>
                <a:latin typeface="Segoe UI"/>
              </a:defRPr>
            </a:pPr>
            <a:r>
              <a:t>Why this is correct:</a:t>
            </a:r>
          </a:p>
        </p:txBody>
      </p:sp>
      <p:sp>
        <p:nvSpPr>
          <p:cNvPr id="9" name="TextBox 8"/>
          <p:cNvSpPr txBox="1"/>
          <p:nvPr/>
        </p:nvSpPr>
        <p:spPr>
          <a:xfrm>
            <a:off x="5897880" y="1508760"/>
            <a:ext cx="2926080" cy="3200400"/>
          </a:xfrm>
          <a:prstGeom prst="rect">
            <a:avLst/>
          </a:prstGeom>
          <a:noFill/>
        </p:spPr>
        <p:txBody>
          <a:bodyPr wrap="square">
            <a:spAutoFit/>
          </a:bodyPr>
          <a:lstStyle/>
          <a:p>
            <a:pPr>
              <a:spcAft>
                <a:spcPts val="600"/>
              </a:spcAft>
              <a:defRPr sz="900">
                <a:solidFill>
                  <a:srgbClr val="263238"/>
                </a:solidFill>
                <a:latin typeface="Segoe UI"/>
              </a:defRPr>
            </a:pPr>
            <a:r>
              <a:t>• Macie is purpose-built for PII discovery in S3</a:t>
            </a:r>
          </a:p>
          <a:p>
            <a:pPr>
              <a:spcAft>
                <a:spcPts val="600"/>
              </a:spcAft>
              <a:defRPr sz="900">
                <a:solidFill>
                  <a:srgbClr val="263238"/>
                </a:solidFill>
                <a:latin typeface="Segoe UI"/>
              </a:defRPr>
            </a:pPr>
            <a:r>
              <a:t>• Scans both new and existing data</a:t>
            </a:r>
          </a:p>
          <a:p>
            <a:pPr>
              <a:spcAft>
                <a:spcPts val="600"/>
              </a:spcAft>
              <a:defRPr sz="900">
                <a:solidFill>
                  <a:srgbClr val="263238"/>
                </a:solidFill>
                <a:latin typeface="Segoe UI"/>
              </a:defRPr>
            </a:pPr>
            <a:r>
              <a:t>• EventBridge provides real-time event-driven response</a:t>
            </a:r>
          </a:p>
          <a:p>
            <a:pPr>
              <a:spcAft>
                <a:spcPts val="600"/>
              </a:spcAft>
              <a:defRPr sz="900">
                <a:solidFill>
                  <a:srgbClr val="263238"/>
                </a:solidFill>
                <a:latin typeface="Segoe UI"/>
              </a:defRPr>
            </a:pPr>
            <a:r>
              <a:t>• Built-in dashboard for security audit overview</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9144000" cy="8229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182880"/>
            <a:ext cx="1280160" cy="411480"/>
          </a:xfrm>
          <a:prstGeom prst="roundRect">
            <a:avLst/>
          </a:prstGeom>
          <a:solidFill>
            <a:srgbClr val="FF1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 INCORRECT</a:t>
            </a:r>
          </a:p>
        </p:txBody>
      </p:sp>
      <p:sp>
        <p:nvSpPr>
          <p:cNvPr id="4" name="TextBox 3"/>
          <p:cNvSpPr txBox="1"/>
          <p:nvPr/>
        </p:nvSpPr>
        <p:spPr>
          <a:xfrm>
            <a:off x="1737360" y="137160"/>
            <a:ext cx="7132320" cy="594360"/>
          </a:xfrm>
          <a:prstGeom prst="rect">
            <a:avLst/>
          </a:prstGeom>
          <a:noFill/>
        </p:spPr>
        <p:txBody>
          <a:bodyPr wrap="square" anchor="ctr">
            <a:spAutoFit/>
          </a:bodyPr>
          <a:lstStyle/>
          <a:p>
            <a:pPr>
              <a:defRPr sz="1000">
                <a:solidFill>
                  <a:srgbClr val="FFFFFF"/>
                </a:solidFill>
                <a:latin typeface="Segoe UI"/>
              </a:defRPr>
            </a:pPr>
            <a:r>
              <a:t>Option D: Enable Amazon Macie. Create a Lambda function on a schedule to poll Macie findings and invoke the masking application.</a:t>
            </a:r>
          </a:p>
        </p:txBody>
      </p:sp>
      <p:pic>
        <p:nvPicPr>
          <p:cNvPr id="5" name="Picture 4" descr="option_d.png"/>
          <p:cNvPicPr>
            <a:picLocks noChangeAspect="1"/>
          </p:cNvPicPr>
          <p:nvPr/>
        </p:nvPicPr>
        <p:blipFill>
          <a:blip r:embed="rId2"/>
          <a:stretch>
            <a:fillRect/>
          </a:stretch>
        </p:blipFill>
        <p:spPr>
          <a:xfrm>
            <a:off x="182880" y="1097280"/>
            <a:ext cx="3042305" cy="3108960"/>
          </a:xfrm>
          <a:prstGeom prst="rect">
            <a:avLst/>
          </a:prstGeom>
        </p:spPr>
      </p:pic>
      <p:sp>
        <p:nvSpPr>
          <p:cNvPr id="6" name="Rounded Rectangle 5"/>
          <p:cNvSpPr/>
          <p:nvPr/>
        </p:nvSpPr>
        <p:spPr>
          <a:xfrm>
            <a:off x="5669280" y="1005840"/>
            <a:ext cx="3291840" cy="384048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0" y="1005840"/>
            <a:ext cx="54864" cy="3840480"/>
          </a:xfrm>
          <a:prstGeom prst="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97880" y="1143000"/>
            <a:ext cx="2926080" cy="320040"/>
          </a:xfrm>
          <a:prstGeom prst="rect">
            <a:avLst/>
          </a:prstGeom>
          <a:noFill/>
        </p:spPr>
        <p:txBody>
          <a:bodyPr wrap="none">
            <a:spAutoFit/>
          </a:bodyPr>
          <a:lstStyle/>
          <a:p>
            <a:pPr>
              <a:defRPr sz="1000" b="1">
                <a:solidFill>
                  <a:srgbClr val="FF1744"/>
                </a:solidFill>
                <a:latin typeface="Segoe UI"/>
              </a:defRPr>
            </a:pPr>
            <a:r>
              <a:t>Why this is incorrect:</a:t>
            </a:r>
          </a:p>
        </p:txBody>
      </p:sp>
      <p:sp>
        <p:nvSpPr>
          <p:cNvPr id="9" name="TextBox 8"/>
          <p:cNvSpPr txBox="1"/>
          <p:nvPr/>
        </p:nvSpPr>
        <p:spPr>
          <a:xfrm>
            <a:off x="5897880" y="1508760"/>
            <a:ext cx="2926080" cy="3200400"/>
          </a:xfrm>
          <a:prstGeom prst="rect">
            <a:avLst/>
          </a:prstGeom>
          <a:noFill/>
        </p:spPr>
        <p:txBody>
          <a:bodyPr wrap="square">
            <a:spAutoFit/>
          </a:bodyPr>
          <a:lstStyle/>
          <a:p>
            <a:pPr>
              <a:spcAft>
                <a:spcPts val="600"/>
              </a:spcAft>
              <a:defRPr sz="900">
                <a:solidFill>
                  <a:srgbClr val="263238"/>
                </a:solidFill>
                <a:latin typeface="Segoe UI"/>
              </a:defRPr>
            </a:pPr>
            <a:r>
              <a:t>• Polling adds latency — not real-time</a:t>
            </a:r>
          </a:p>
          <a:p>
            <a:pPr>
              <a:spcAft>
                <a:spcPts val="600"/>
              </a:spcAft>
              <a:defRPr sz="900">
                <a:solidFill>
                  <a:srgbClr val="263238"/>
                </a:solidFill>
                <a:latin typeface="Segoe UI"/>
              </a:defRPr>
            </a:pPr>
            <a:r>
              <a:t>• Scheduled Lambda adds operational overhead</a:t>
            </a:r>
          </a:p>
          <a:p>
            <a:pPr>
              <a:spcAft>
                <a:spcPts val="600"/>
              </a:spcAft>
              <a:defRPr sz="900">
                <a:solidFill>
                  <a:srgbClr val="263238"/>
                </a:solidFill>
                <a:latin typeface="Segoe UI"/>
              </a:defRPr>
            </a:pPr>
            <a:r>
              <a:t>• May miss findings between poll intervals</a:t>
            </a:r>
          </a:p>
          <a:p>
            <a:pPr>
              <a:spcAft>
                <a:spcPts val="600"/>
              </a:spcAft>
              <a:defRPr sz="900">
                <a:solidFill>
                  <a:srgbClr val="263238"/>
                </a:solidFill>
                <a:latin typeface="Segoe UI"/>
              </a:defRPr>
            </a:pPr>
            <a:r>
              <a:t>• Event-driven approach is simpler and faster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