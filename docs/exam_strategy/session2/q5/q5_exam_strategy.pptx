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2F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S3 Storage Class Optimization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017520"/>
            <a:ext cx="9418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9900"/>
                </a:solidFill>
                <a:latin typeface="Calibri"/>
              </a:defRPr>
            </a:pPr>
            <a:r>
              <a:t>S3 Standard  |  Standard-IA  |  Glacier Instant Retrieval  |  Glacier Deep Archive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3840480"/>
            <a:ext cx="3017520" cy="36576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43891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5F5F5"/>
                </a:solidFill>
                <a:latin typeface="Calibri"/>
              </a:defRPr>
            </a:pPr>
            <a:r>
              <a:t>Exam Strategy  —  Question 5  —  Most cost-effective combination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320040"/>
            <a:ext cx="11247120" cy="685800"/>
          </a:xfrm>
          <a:prstGeom prst="round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QUESTION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00"/>
              </a:lnSpc>
              <a:defRPr sz="1300" b="0">
                <a:solidFill>
                  <a:srgbClr val="212121"/>
                </a:solidFill>
                <a:latin typeface="Calibri"/>
              </a:defRPr>
            </a:pPr>
            <a:r>
              <a:t>A data engineer works at a video streaming service that stores large amounts of video content on Amazon S3. They have a mix of frequently accessed content that needs to be readily available as well as a large amount of older content that is accessed once per quarter. The data engineer is tasked with optimizing storage costs while maintaining the required performance for their workload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32F3E"/>
                </a:solidFill>
                <a:latin typeface="Calibri"/>
              </a:defRPr>
            </a:pPr>
            <a:r>
              <a:t>Which combination of Amazon S3 storage classes will meet the requirements in the most cost effective way?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926080"/>
            <a:ext cx="10698480" cy="658368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14400" y="3017520"/>
            <a:ext cx="411480" cy="411480"/>
          </a:xfrm>
          <a:prstGeom prst="roundRect">
            <a:avLst/>
          </a:prstGeom>
          <a:solidFill>
            <a:srgbClr val="757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01752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3017520"/>
            <a:ext cx="960120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12121"/>
                </a:solidFill>
                <a:latin typeface="Calibri"/>
              </a:defRPr>
            </a:pPr>
            <a:r>
              <a:t>S3 Standard for frequently accessed content and S3 Glacier Instant Retrieval for infrequently accessed content.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657600"/>
            <a:ext cx="10698480" cy="658368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14400" y="3749040"/>
            <a:ext cx="411480" cy="411480"/>
          </a:xfrm>
          <a:prstGeom prst="roundRect">
            <a:avLst/>
          </a:prstGeom>
          <a:solidFill>
            <a:srgbClr val="757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74904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749040"/>
            <a:ext cx="960120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12121"/>
                </a:solidFill>
                <a:latin typeface="Calibri"/>
              </a:defRPr>
            </a:pPr>
            <a:r>
              <a:t>S3 Standard for frequently accessed content and S3 Infrequent-Access for infrequently accessed content.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389120"/>
            <a:ext cx="10698480" cy="658368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14400" y="4480560"/>
            <a:ext cx="411480" cy="411480"/>
          </a:xfrm>
          <a:prstGeom prst="roundRect">
            <a:avLst/>
          </a:prstGeom>
          <a:solidFill>
            <a:srgbClr val="757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48056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4480560"/>
            <a:ext cx="960120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12121"/>
                </a:solidFill>
                <a:latin typeface="Calibri"/>
              </a:defRPr>
            </a:pPr>
            <a:r>
              <a:t>S3 Glacier Instant Retrieval for frequently accessed content and S3 Glacier Deep Archive for infrequently accessed archive content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120640"/>
            <a:ext cx="10698480" cy="658368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14400" y="5212080"/>
            <a:ext cx="411480" cy="411480"/>
          </a:xfrm>
          <a:prstGeom prst="roundRect">
            <a:avLst/>
          </a:prstGeom>
          <a:solidFill>
            <a:srgbClr val="757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521208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5212080"/>
            <a:ext cx="960120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12121"/>
                </a:solidFill>
                <a:latin typeface="Calibri"/>
              </a:defRPr>
            </a:pPr>
            <a:r>
              <a:t>S3 Standard-IA for frequently accessed content, S3 Glacier Instant Retrieval for infrequently accessed archive content.</a:t>
            </a:r>
          </a:p>
        </p:txBody>
      </p:sp>
      <p:pic>
        <p:nvPicPr>
          <p:cNvPr id="24" name="Picture 23" descr="countdown_2mi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5943600"/>
            <a:ext cx="2286000" cy="7772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274320"/>
            <a:ext cx="11247120" cy="685800"/>
          </a:xfrm>
          <a:prstGeom prst="round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347472"/>
            <a:ext cx="502920" cy="50292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34747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47472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S3 Standard + Glacier Instant Retrieval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0" y="384048"/>
            <a:ext cx="1920240" cy="45720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0" y="384048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CORRECT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4632" y="1060704"/>
            <a:ext cx="11219688" cy="59436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67512" y="1152144"/>
            <a:ext cx="411480" cy="411480"/>
          </a:xfrm>
          <a:prstGeom prst="roundRect">
            <a:avLst/>
          </a:prstGeom>
          <a:solidFill>
            <a:srgbClr val="757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" y="1152144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07592" y="1152144"/>
            <a:ext cx="102138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12121"/>
                </a:solidFill>
                <a:latin typeface="Calibri"/>
              </a:defRPr>
            </a:pPr>
            <a:r>
              <a:t>S3 Standard for frequently accessed content and S3 Glacier Instant Retrieval for infrequently accessed content.</a:t>
            </a:r>
          </a:p>
        </p:txBody>
      </p:sp>
      <p:pic>
        <p:nvPicPr>
          <p:cNvPr id="14" name="Picture 13" descr="option_a_standard_glacier_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3876" y="1783080"/>
            <a:ext cx="4853767" cy="297180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457200" y="4901184"/>
            <a:ext cx="11247120" cy="1773936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5074920"/>
            <a:ext cx="54864" cy="15087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5038344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7D32"/>
                </a:solidFill>
                <a:latin typeface="Calibri"/>
              </a:defRPr>
            </a:pPr>
            <a:r>
              <a:t>Correct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5038344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0E0E0"/>
                </a:solidFill>
                <a:latin typeface="Calibri"/>
              </a:defRPr>
            </a:pPr>
            <a:r>
              <a:t>|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0280" y="5038344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32F3E"/>
                </a:solidFill>
                <a:latin typeface="Calibri"/>
              </a:defRPr>
            </a:pPr>
            <a:r>
              <a:t>Explanation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5404104"/>
            <a:ext cx="10698480" cy="1371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54864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defRPr>
                <a:latin typeface="Calibri"/>
              </a:defRPr>
            </a:pPr>
            <a:r>
              <a:rPr sz="1100">
                <a:solidFill>
                  <a:srgbClr val="757575"/>
                </a:solidFill>
                <a:latin typeface="Calibri"/>
              </a:rPr>
              <a:t>•  </a:t>
            </a:r>
            <a:r>
              <a:rPr sz="1100" b="0">
                <a:solidFill>
                  <a:srgbClr val="212121"/>
                </a:solidFill>
                <a:latin typeface="Calibri"/>
              </a:rPr>
              <a:t>S3 Standard for frequently accessed content — no retrieval fee, millisecond access</a:t>
            </a:r>
          </a:p>
          <a:p>
            <a:pPr>
              <a:lnSpc>
                <a:spcPts val="1800"/>
              </a:lnSpc>
              <a:defRPr>
                <a:latin typeface="Calibri"/>
              </a:defRPr>
            </a:pPr>
            <a:r>
              <a:rPr sz="900" b="1">
                <a:solidFill>
                  <a:srgbClr val="2E7D32"/>
                </a:solidFill>
                <a:latin typeface="Calibri"/>
              </a:rPr>
              <a:t>▶  </a:t>
            </a:r>
            <a:r>
              <a:rPr sz="1100" b="1">
                <a:solidFill>
                  <a:srgbClr val="2E7D32"/>
                </a:solidFill>
                <a:latin typeface="Calibri"/>
              </a:rPr>
              <a:t>Glacier Instant Retrieval saves 68% vs Standard-IA for data accessed once per quarter</a:t>
            </a:r>
          </a:p>
          <a:p>
            <a:pPr>
              <a:lnSpc>
                <a:spcPts val="1800"/>
              </a:lnSpc>
              <a:defRPr>
                <a:latin typeface="Calibri"/>
              </a:defRPr>
            </a:pPr>
            <a:r>
              <a:rPr sz="900" b="1">
                <a:solidFill>
                  <a:srgbClr val="2E7D32"/>
                </a:solidFill>
                <a:latin typeface="Calibri"/>
              </a:rPr>
              <a:t>▶  </a:t>
            </a:r>
            <a:r>
              <a:rPr sz="1100" b="1">
                <a:solidFill>
                  <a:srgbClr val="2E7D32"/>
                </a:solidFill>
                <a:latin typeface="Calibri"/>
              </a:rPr>
              <a:t>Glacier Instant Retrieval still provides millisecond access — no latency trade-off</a:t>
            </a:r>
          </a:p>
          <a:p>
            <a:pPr>
              <a:lnSpc>
                <a:spcPts val="1800"/>
              </a:lnSpc>
              <a:defRPr>
                <a:latin typeface="Calibri"/>
              </a:defRPr>
            </a:pPr>
            <a:r>
              <a:rPr sz="1100">
                <a:solidFill>
                  <a:srgbClr val="757575"/>
                </a:solidFill>
                <a:latin typeface="Calibri"/>
              </a:rPr>
              <a:t>•  </a:t>
            </a:r>
            <a:r>
              <a:rPr sz="1100" b="0">
                <a:solidFill>
                  <a:srgbClr val="212121"/>
                </a:solidFill>
                <a:latin typeface="Calibri"/>
              </a:rPr>
              <a:t>Higher per-GB retrieval cost offset by much lower storage cost at quarterly access frequency</a:t>
            </a:r>
          </a:p>
          <a:p>
            <a:pPr>
              <a:lnSpc>
                <a:spcPts val="1800"/>
              </a:lnSpc>
              <a:defRPr>
                <a:latin typeface="Calibri"/>
              </a:defRPr>
            </a:pPr>
            <a:r>
              <a:rPr sz="1100">
                <a:solidFill>
                  <a:srgbClr val="757575"/>
                </a:solidFill>
                <a:latin typeface="Calibri"/>
              </a:rPr>
              <a:t>•  </a:t>
            </a:r>
            <a:r>
              <a:rPr sz="1100" b="0">
                <a:solidFill>
                  <a:srgbClr val="212121"/>
                </a:solidFill>
                <a:latin typeface="Calibri"/>
              </a:rPr>
              <a:t>AWS explicitly recommends this class for data accessed approximately once per quarter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274320"/>
            <a:ext cx="11247120" cy="685800"/>
          </a:xfrm>
          <a:prstGeom prst="round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347472"/>
            <a:ext cx="502920" cy="502920"/>
          </a:xfrm>
          <a:prstGeom prst="round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34747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47472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S3 Standard + Standard-IA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0" y="384048"/>
            <a:ext cx="1920240" cy="457200"/>
          </a:xfrm>
          <a:prstGeom prst="round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0" y="384048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INCORRECT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4632" y="1060704"/>
            <a:ext cx="11219688" cy="59436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67512" y="1152144"/>
            <a:ext cx="411480" cy="411480"/>
          </a:xfrm>
          <a:prstGeom prst="roundRect">
            <a:avLst/>
          </a:prstGeom>
          <a:solidFill>
            <a:srgbClr val="757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" y="1152144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07592" y="1152144"/>
            <a:ext cx="102138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12121"/>
                </a:solidFill>
                <a:latin typeface="Calibri"/>
              </a:defRPr>
            </a:pPr>
            <a:r>
              <a:t>S3 Standard for frequently accessed content and S3 Infrequent-Access for infrequently accessed content.</a:t>
            </a:r>
          </a:p>
        </p:txBody>
      </p:sp>
      <p:pic>
        <p:nvPicPr>
          <p:cNvPr id="14" name="Picture 13" descr="option_b_standard_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5488" y="1783080"/>
            <a:ext cx="4490544" cy="297180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457200" y="4901184"/>
            <a:ext cx="11247120" cy="1773936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5074920"/>
            <a:ext cx="54864" cy="150876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5038344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62828"/>
                </a:solidFill>
                <a:latin typeface="Calibri"/>
              </a:defRPr>
            </a:pPr>
            <a:r>
              <a:t>Incorrect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5038344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0E0E0"/>
                </a:solidFill>
                <a:latin typeface="Calibri"/>
              </a:defRPr>
            </a:pPr>
            <a:r>
              <a:t>|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0280" y="5038344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32F3E"/>
                </a:solidFill>
                <a:latin typeface="Calibri"/>
              </a:defRPr>
            </a:pPr>
            <a:r>
              <a:t>Explanation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5404104"/>
            <a:ext cx="10698480" cy="1371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54864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defRPr>
                <a:latin typeface="Calibri"/>
              </a:defRPr>
            </a:pPr>
            <a:r>
              <a:rPr sz="1100">
                <a:solidFill>
                  <a:srgbClr val="757575"/>
                </a:solidFill>
                <a:latin typeface="Calibri"/>
              </a:rPr>
              <a:t>•  </a:t>
            </a:r>
            <a:r>
              <a:rPr sz="1100" b="0">
                <a:solidFill>
                  <a:srgbClr val="212121"/>
                </a:solidFill>
                <a:latin typeface="Calibri"/>
              </a:rPr>
              <a:t>S3 Standard for hot content is correct</a:t>
            </a:r>
          </a:p>
          <a:p>
            <a:pPr>
              <a:lnSpc>
                <a:spcPts val="1800"/>
              </a:lnSpc>
              <a:defRPr>
                <a:latin typeface="Calibri"/>
              </a:defRPr>
            </a:pPr>
            <a:r>
              <a:rPr sz="900" b="1">
                <a:solidFill>
                  <a:srgbClr val="C62828"/>
                </a:solidFill>
                <a:latin typeface="Calibri"/>
              </a:rPr>
              <a:t>▶  </a:t>
            </a:r>
            <a:r>
              <a:rPr sz="1100" b="1">
                <a:solidFill>
                  <a:srgbClr val="C62828"/>
                </a:solidFill>
                <a:latin typeface="Calibri"/>
              </a:rPr>
              <a:t>Standard-IA works for infrequent access but costs 68% more than Glacier Instant Retrieval at quarterly access</a:t>
            </a:r>
          </a:p>
          <a:p>
            <a:pPr>
              <a:lnSpc>
                <a:spcPts val="1800"/>
              </a:lnSpc>
              <a:defRPr>
                <a:latin typeface="Calibri"/>
              </a:defRPr>
            </a:pPr>
            <a:r>
              <a:rPr sz="900" b="1">
                <a:solidFill>
                  <a:srgbClr val="C62828"/>
                </a:solidFill>
                <a:latin typeface="Calibri"/>
              </a:rPr>
              <a:t>▶  </a:t>
            </a:r>
            <a:r>
              <a:rPr sz="1100" b="1">
                <a:solidFill>
                  <a:srgbClr val="C62828"/>
                </a:solidFill>
                <a:latin typeface="Calibri"/>
              </a:rPr>
              <a:t>Standard-IA is better suited for monthly access patterns, not once-per-quarter</a:t>
            </a:r>
          </a:p>
          <a:p>
            <a:pPr>
              <a:lnSpc>
                <a:spcPts val="1800"/>
              </a:lnSpc>
              <a:defRPr>
                <a:latin typeface="Calibri"/>
              </a:defRPr>
            </a:pPr>
            <a:r>
              <a:rPr sz="1100">
                <a:solidFill>
                  <a:srgbClr val="757575"/>
                </a:solidFill>
                <a:latin typeface="Calibri"/>
              </a:rPr>
              <a:t>•  </a:t>
            </a:r>
            <a:r>
              <a:rPr sz="1100" b="0">
                <a:solidFill>
                  <a:srgbClr val="212121"/>
                </a:solidFill>
                <a:latin typeface="Calibri"/>
              </a:rPr>
              <a:t>Tempting answer — functional but not the MOST cost-effective option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274320"/>
            <a:ext cx="11247120" cy="685800"/>
          </a:xfrm>
          <a:prstGeom prst="round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347472"/>
            <a:ext cx="502920" cy="502920"/>
          </a:xfrm>
          <a:prstGeom prst="round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34747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47472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Glacier Instant + Glacier Deep Archive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0" y="384048"/>
            <a:ext cx="1920240" cy="457200"/>
          </a:xfrm>
          <a:prstGeom prst="round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0" y="384048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INCORRECT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4632" y="1060704"/>
            <a:ext cx="11219688" cy="59436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67512" y="1152144"/>
            <a:ext cx="411480" cy="411480"/>
          </a:xfrm>
          <a:prstGeom prst="roundRect">
            <a:avLst/>
          </a:prstGeom>
          <a:solidFill>
            <a:srgbClr val="757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" y="1152144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07592" y="1152144"/>
            <a:ext cx="102138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12121"/>
                </a:solidFill>
                <a:latin typeface="Calibri"/>
              </a:defRPr>
            </a:pPr>
            <a:r>
              <a:t>S3 Glacier Instant Retrieval for frequently accessed content and S3 Glacier Deep Archive for infrequently accessed archive content</a:t>
            </a:r>
          </a:p>
        </p:txBody>
      </p:sp>
      <p:pic>
        <p:nvPicPr>
          <p:cNvPr id="14" name="Picture 13" descr="option_c_glacier_bo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5214" y="1783080"/>
            <a:ext cx="5331091" cy="297180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457200" y="4901184"/>
            <a:ext cx="11247120" cy="1773936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5074920"/>
            <a:ext cx="54864" cy="150876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5038344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62828"/>
                </a:solidFill>
                <a:latin typeface="Calibri"/>
              </a:defRPr>
            </a:pPr>
            <a:r>
              <a:t>Incorrect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5038344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0E0E0"/>
                </a:solidFill>
                <a:latin typeface="Calibri"/>
              </a:defRPr>
            </a:pPr>
            <a:r>
              <a:t>|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0280" y="5038344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32F3E"/>
                </a:solidFill>
                <a:latin typeface="Calibri"/>
              </a:defRPr>
            </a:pPr>
            <a:r>
              <a:t>Explanation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5404104"/>
            <a:ext cx="10698480" cy="1371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54864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defRPr>
                <a:latin typeface="Calibri"/>
              </a:defRPr>
            </a:pPr>
            <a:r>
              <a:rPr sz="900" b="1">
                <a:solidFill>
                  <a:srgbClr val="C62828"/>
                </a:solidFill>
                <a:latin typeface="Calibri"/>
              </a:rPr>
              <a:t>▶  </a:t>
            </a:r>
            <a:r>
              <a:rPr sz="1100" b="1">
                <a:solidFill>
                  <a:srgbClr val="C62828"/>
                </a:solidFill>
                <a:latin typeface="Calibri"/>
              </a:rPr>
              <a:t>Glacier Instant Retrieval is NOT designed for frequently accessed content — high retrieval costs</a:t>
            </a:r>
          </a:p>
          <a:p>
            <a:pPr>
              <a:lnSpc>
                <a:spcPts val="1800"/>
              </a:lnSpc>
              <a:defRPr>
                <a:latin typeface="Calibri"/>
              </a:defRPr>
            </a:pPr>
            <a:r>
              <a:rPr sz="900" b="1">
                <a:solidFill>
                  <a:srgbClr val="C62828"/>
                </a:solidFill>
                <a:latin typeface="Calibri"/>
              </a:rPr>
              <a:t>▶  </a:t>
            </a:r>
            <a:r>
              <a:rPr sz="1100" b="1">
                <a:solidFill>
                  <a:srgbClr val="C62828"/>
                </a:solidFill>
                <a:latin typeface="Calibri"/>
              </a:rPr>
              <a:t>Glacier Deep Archive has 12-48 hour retrieval — far too slow for quarterly video streaming</a:t>
            </a:r>
          </a:p>
          <a:p>
            <a:pPr>
              <a:lnSpc>
                <a:spcPts val="1800"/>
              </a:lnSpc>
              <a:defRPr>
                <a:latin typeface="Calibri"/>
              </a:defRPr>
            </a:pPr>
            <a:r>
              <a:rPr sz="1100">
                <a:solidFill>
                  <a:srgbClr val="757575"/>
                </a:solidFill>
                <a:latin typeface="Calibri"/>
              </a:rPr>
              <a:t>•  </a:t>
            </a:r>
            <a:r>
              <a:rPr sz="1100" b="0">
                <a:solidFill>
                  <a:srgbClr val="212121"/>
                </a:solidFill>
                <a:latin typeface="Calibri"/>
              </a:rPr>
              <a:t>Frequently accessed content requires S3 Standard for zero retrieval fees and high throughput</a:t>
            </a:r>
          </a:p>
          <a:p>
            <a:pPr>
              <a:lnSpc>
                <a:spcPts val="1800"/>
              </a:lnSpc>
              <a:defRPr>
                <a:latin typeface="Calibri"/>
              </a:defRPr>
            </a:pPr>
            <a:r>
              <a:rPr sz="1100">
                <a:solidFill>
                  <a:srgbClr val="757575"/>
                </a:solidFill>
                <a:latin typeface="Calibri"/>
              </a:rPr>
              <a:t>•  </a:t>
            </a:r>
            <a:r>
              <a:rPr sz="1100" b="0">
                <a:solidFill>
                  <a:srgbClr val="212121"/>
                </a:solidFill>
                <a:latin typeface="Calibri"/>
              </a:rPr>
              <a:t>Deep Archive is for data retained 7-10 years and accessed less than once per year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274320"/>
            <a:ext cx="11247120" cy="685800"/>
          </a:xfrm>
          <a:prstGeom prst="round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347472"/>
            <a:ext cx="502920" cy="502920"/>
          </a:xfrm>
          <a:prstGeom prst="round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34747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47472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Standard-IA + Glacier Instant Retrieval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0" y="384048"/>
            <a:ext cx="1920240" cy="457200"/>
          </a:xfrm>
          <a:prstGeom prst="round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0" y="384048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INCORRECT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4632" y="1060704"/>
            <a:ext cx="11219688" cy="59436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67512" y="1152144"/>
            <a:ext cx="411480" cy="411480"/>
          </a:xfrm>
          <a:prstGeom prst="roundRect">
            <a:avLst/>
          </a:prstGeom>
          <a:solidFill>
            <a:srgbClr val="757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" y="1152144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07592" y="1152144"/>
            <a:ext cx="102138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12121"/>
                </a:solidFill>
                <a:latin typeface="Calibri"/>
              </a:defRPr>
            </a:pPr>
            <a:r>
              <a:t>S3 Standard-IA for frequently accessed content, S3 Glacier Instant Retrieval for infrequently accessed archive content.</a:t>
            </a:r>
          </a:p>
        </p:txBody>
      </p:sp>
      <p:pic>
        <p:nvPicPr>
          <p:cNvPr id="14" name="Picture 13" descr="option_d_ia_glacier_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9224" y="1783080"/>
            <a:ext cx="4983071" cy="297180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457200" y="4901184"/>
            <a:ext cx="11247120" cy="1773936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5074920"/>
            <a:ext cx="54864" cy="150876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5038344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62828"/>
                </a:solidFill>
                <a:latin typeface="Calibri"/>
              </a:defRPr>
            </a:pPr>
            <a:r>
              <a:t>Incorrect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5038344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0E0E0"/>
                </a:solidFill>
                <a:latin typeface="Calibri"/>
              </a:defRPr>
            </a:pPr>
            <a:r>
              <a:t>|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0280" y="5038344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32F3E"/>
                </a:solidFill>
                <a:latin typeface="Calibri"/>
              </a:defRPr>
            </a:pPr>
            <a:r>
              <a:t>Explanation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5404104"/>
            <a:ext cx="10698480" cy="1371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54864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defRPr>
                <a:latin typeface="Calibri"/>
              </a:defRPr>
            </a:pPr>
            <a:r>
              <a:rPr sz="900" b="1">
                <a:solidFill>
                  <a:srgbClr val="C62828"/>
                </a:solidFill>
                <a:latin typeface="Calibri"/>
              </a:rPr>
              <a:t>▶  </a:t>
            </a:r>
            <a:r>
              <a:rPr sz="1100" b="1">
                <a:solidFill>
                  <a:srgbClr val="C62828"/>
                </a:solidFill>
                <a:latin typeface="Calibri"/>
              </a:rPr>
              <a:t>Standard-IA is NOT suitable for frequently accessed content — $0.01/GB retrieval fee on every access</a:t>
            </a:r>
          </a:p>
          <a:p>
            <a:pPr>
              <a:lnSpc>
                <a:spcPts val="1800"/>
              </a:lnSpc>
              <a:defRPr>
                <a:latin typeface="Calibri"/>
              </a:defRPr>
            </a:pPr>
            <a:r>
              <a:rPr sz="900" b="1">
                <a:solidFill>
                  <a:srgbClr val="C62828"/>
                </a:solidFill>
                <a:latin typeface="Calibri"/>
              </a:rPr>
              <a:t>▶  </a:t>
            </a:r>
            <a:r>
              <a:rPr sz="1100" b="1">
                <a:solidFill>
                  <a:srgbClr val="C62828"/>
                </a:solidFill>
                <a:latin typeface="Calibri"/>
              </a:rPr>
              <a:t>Frequent access on Standard-IA accumulates high retrieval costs quickly</a:t>
            </a:r>
          </a:p>
          <a:p>
            <a:pPr>
              <a:lnSpc>
                <a:spcPts val="1800"/>
              </a:lnSpc>
              <a:defRPr>
                <a:latin typeface="Calibri"/>
              </a:defRPr>
            </a:pPr>
            <a:r>
              <a:rPr sz="1100">
                <a:solidFill>
                  <a:srgbClr val="757575"/>
                </a:solidFill>
                <a:latin typeface="Calibri"/>
              </a:rPr>
              <a:t>•  </a:t>
            </a:r>
            <a:r>
              <a:rPr sz="1100" b="0">
                <a:solidFill>
                  <a:srgbClr val="212121"/>
                </a:solidFill>
                <a:latin typeface="Calibri"/>
              </a:rPr>
              <a:t>Glacier Instant Retrieval for quarterly content is correct, but the hot tier is wrong</a:t>
            </a:r>
          </a:p>
          <a:p>
            <a:pPr>
              <a:lnSpc>
                <a:spcPts val="1800"/>
              </a:lnSpc>
              <a:defRPr>
                <a:latin typeface="Calibri"/>
              </a:defRPr>
            </a:pPr>
            <a:r>
              <a:rPr sz="1100">
                <a:solidFill>
                  <a:srgbClr val="757575"/>
                </a:solidFill>
                <a:latin typeface="Calibri"/>
              </a:rPr>
              <a:t>•  </a:t>
            </a:r>
            <a:r>
              <a:rPr sz="1100" b="0">
                <a:solidFill>
                  <a:srgbClr val="212121"/>
                </a:solidFill>
                <a:latin typeface="Calibri"/>
              </a:rPr>
              <a:t>S3 Standard is the only appropriate class for frequently accessed data — no retrieval fee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2F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ANSWER KEY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0" y="1188720"/>
            <a:ext cx="2651760" cy="36576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777240"/>
          </a:xfrm>
          <a:prstGeom prst="roundRect">
            <a:avLst/>
          </a:prstGeom>
          <a:solidFill>
            <a:srgbClr val="2C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783080"/>
            <a:ext cx="457200" cy="45720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173736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Standard + Glacier IR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0" y="1810512"/>
            <a:ext cx="1554480" cy="41148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0" y="1810512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CORRECT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1737360"/>
            <a:ext cx="4663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5F5F5"/>
                </a:solidFill>
                <a:latin typeface="Calibri"/>
              </a:defRPr>
            </a:pPr>
            <a:r>
              <a:t>Glacier Instant Retrieval saves 68% vs Standard-IA for once-per-quarter access.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697480"/>
            <a:ext cx="10698480" cy="777240"/>
          </a:xfrm>
          <a:prstGeom prst="roundRect">
            <a:avLst/>
          </a:prstGeom>
          <a:solidFill>
            <a:srgbClr val="3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14400" y="2834640"/>
            <a:ext cx="457200" cy="457200"/>
          </a:xfrm>
          <a:prstGeom prst="round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8346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27889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Standard + Standard-IA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0" y="2862072"/>
            <a:ext cx="1554480" cy="411480"/>
          </a:xfrm>
          <a:prstGeom prst="round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80" y="2862072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INCORRECT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2788920"/>
            <a:ext cx="4663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5F5F5"/>
                </a:solidFill>
                <a:latin typeface="Calibri"/>
              </a:defRPr>
            </a:pPr>
            <a:r>
              <a:t>Works but not most cost-effective — Standard-IA costs 68% more than Glacier IR at quarterly access.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749040"/>
            <a:ext cx="10698480" cy="777240"/>
          </a:xfrm>
          <a:prstGeom prst="roundRect">
            <a:avLst/>
          </a:prstGeom>
          <a:solidFill>
            <a:srgbClr val="2C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14400" y="3886200"/>
            <a:ext cx="457200" cy="457200"/>
          </a:xfrm>
          <a:prstGeom prst="round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38862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45920" y="384048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Glacier IR + Deep Archive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0" y="3913632"/>
            <a:ext cx="1554480" cy="411480"/>
          </a:xfrm>
          <a:prstGeom prst="round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54880" y="3913632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INCORRECT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3840480"/>
            <a:ext cx="4663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5F5F5"/>
                </a:solidFill>
                <a:latin typeface="Calibri"/>
              </a:defRPr>
            </a:pPr>
            <a:r>
              <a:t>Glacier IR wrong for frequent access; Deep Archive 12-48hr retrieval too slow for quarterly.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4800600"/>
            <a:ext cx="10698480" cy="777240"/>
          </a:xfrm>
          <a:prstGeom prst="roundRect">
            <a:avLst/>
          </a:prstGeom>
          <a:solidFill>
            <a:srgbClr val="3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14400" y="4937760"/>
            <a:ext cx="457200" cy="457200"/>
          </a:xfrm>
          <a:prstGeom prst="round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9377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45920" y="48920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Standard-IA + Glacier IR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54880" y="4965192"/>
            <a:ext cx="1554480" cy="411480"/>
          </a:xfrm>
          <a:prstGeom prst="round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54880" y="4965192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INCORRECT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4892040"/>
            <a:ext cx="4663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5F5F5"/>
                </a:solidFill>
                <a:latin typeface="Calibri"/>
              </a:defRPr>
            </a:pPr>
            <a:r>
              <a:t>Standard-IA wrong for frequent access — $0.01/GB retrieval fee adds up quickly.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286000" y="6309360"/>
            <a:ext cx="7589520" cy="41148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286000" y="6309360"/>
            <a:ext cx="7589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232F3E"/>
                </a:solidFill>
                <a:latin typeface="Calibri"/>
              </a:defRPr>
            </a:pPr>
            <a:r>
              <a:t>Correct Answer:  A (S3 Standard + S3 Glacier Instant Retrieval)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