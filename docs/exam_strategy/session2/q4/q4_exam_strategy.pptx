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2F3E"/>
        </a:solidFill>
        <a:effectLst/>
      </p:bgPr>
    </p:bg>
    <p:spTree>
      <p:nvGrpSpPr>
        <p:cNvPr id="1" name=""/>
        <p:cNvGrpSpPr/>
        <p:nvPr/>
      </p:nvGrpSpPr>
      <p:grpSpPr/>
      <p:sp>
        <p:nvSpPr>
          <p:cNvPr id="2" name="Rectangle 1"/>
          <p:cNvSpPr/>
          <p:nvPr/>
        </p:nvSpPr>
        <p:spPr>
          <a:xfrm>
            <a:off x="0" y="0"/>
            <a:ext cx="12191695" cy="64008"/>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332720" cy="914400"/>
          </a:xfrm>
          <a:prstGeom prst="rect">
            <a:avLst/>
          </a:prstGeom>
          <a:noFill/>
        </p:spPr>
        <p:txBody>
          <a:bodyPr wrap="square">
            <a:spAutoFit/>
          </a:bodyPr>
          <a:lstStyle/>
          <a:p>
            <a:pPr algn="ctr">
              <a:defRPr sz="4400" b="1">
                <a:solidFill>
                  <a:srgbClr val="FFFFFF"/>
                </a:solidFill>
                <a:latin typeface="Calibri"/>
              </a:defRPr>
            </a:pPr>
            <a:r>
              <a:t>Database Migration Strategy</a:t>
            </a:r>
          </a:p>
        </p:txBody>
      </p:sp>
      <p:sp>
        <p:nvSpPr>
          <p:cNvPr id="4" name="TextBox 3"/>
          <p:cNvSpPr txBox="1"/>
          <p:nvPr/>
        </p:nvSpPr>
        <p:spPr>
          <a:xfrm>
            <a:off x="1371600" y="3017520"/>
            <a:ext cx="9418320" cy="640080"/>
          </a:xfrm>
          <a:prstGeom prst="rect">
            <a:avLst/>
          </a:prstGeom>
          <a:noFill/>
        </p:spPr>
        <p:txBody>
          <a:bodyPr wrap="square">
            <a:spAutoFit/>
          </a:bodyPr>
          <a:lstStyle/>
          <a:p>
            <a:pPr algn="ctr">
              <a:defRPr sz="2000" b="0">
                <a:solidFill>
                  <a:srgbClr val="FF9900"/>
                </a:solidFill>
                <a:latin typeface="Calibri"/>
              </a:defRPr>
            </a:pPr>
            <a:r>
              <a:t>On-Premises to RDS  |  Schema Conversion  |  AWS SCT  |  AWS DMS</a:t>
            </a:r>
          </a:p>
        </p:txBody>
      </p:sp>
      <p:sp>
        <p:nvSpPr>
          <p:cNvPr id="5" name="Rectangle 4"/>
          <p:cNvSpPr/>
          <p:nvPr/>
        </p:nvSpPr>
        <p:spPr>
          <a:xfrm>
            <a:off x="4572000" y="3840480"/>
            <a:ext cx="3017520" cy="36576"/>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4389120"/>
            <a:ext cx="8503920" cy="457200"/>
          </a:xfrm>
          <a:prstGeom prst="rect">
            <a:avLst/>
          </a:prstGeom>
          <a:noFill/>
        </p:spPr>
        <p:txBody>
          <a:bodyPr wrap="square">
            <a:spAutoFit/>
          </a:bodyPr>
          <a:lstStyle/>
          <a:p>
            <a:pPr algn="ctr">
              <a:defRPr sz="1600" b="0">
                <a:solidFill>
                  <a:srgbClr val="F5F5F5"/>
                </a:solidFill>
                <a:latin typeface="Calibri"/>
              </a:defRPr>
            </a:pPr>
            <a:r>
              <a:t>Exam Strategy  —  Question 4  —  Most operationally efficient approach</a:t>
            </a:r>
          </a:p>
        </p:txBody>
      </p:sp>
      <p:sp>
        <p:nvSpPr>
          <p:cNvPr id="7" name="Rectangle 6"/>
          <p:cNvSpPr/>
          <p:nvPr/>
        </p:nvSpPr>
        <p:spPr>
          <a:xfrm>
            <a:off x="0" y="6793992"/>
            <a:ext cx="12191695" cy="64008"/>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320040"/>
            <a:ext cx="11247120" cy="685800"/>
          </a:xfrm>
          <a:prstGeom prst="roundRect">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65760"/>
            <a:ext cx="10698480" cy="594360"/>
          </a:xfrm>
          <a:prstGeom prst="rect">
            <a:avLst/>
          </a:prstGeom>
          <a:noFill/>
        </p:spPr>
        <p:txBody>
          <a:bodyPr wrap="square">
            <a:spAutoFit/>
          </a:bodyPr>
          <a:lstStyle/>
          <a:p>
            <a:pPr algn="l">
              <a:defRPr sz="2400" b="1">
                <a:solidFill>
                  <a:srgbClr val="FFFFFF"/>
                </a:solidFill>
                <a:latin typeface="Calibri"/>
              </a:defRPr>
            </a:pPr>
            <a:r>
              <a:t>QUESTION</a:t>
            </a:r>
          </a:p>
        </p:txBody>
      </p:sp>
      <p:sp>
        <p:nvSpPr>
          <p:cNvPr id="6" name="TextBox 5"/>
          <p:cNvSpPr txBox="1"/>
          <p:nvPr/>
        </p:nvSpPr>
        <p:spPr>
          <a:xfrm>
            <a:off x="731520" y="1280160"/>
            <a:ext cx="10698480" cy="1005840"/>
          </a:xfrm>
          <a:prstGeom prst="rect">
            <a:avLst/>
          </a:prstGeom>
          <a:noFill/>
        </p:spPr>
        <p:txBody>
          <a:bodyPr wrap="square">
            <a:spAutoFit/>
          </a:bodyPr>
          <a:lstStyle/>
          <a:p>
            <a:pPr algn="l">
              <a:lnSpc>
                <a:spcPts val="2000"/>
              </a:lnSpc>
              <a:defRPr sz="1300" b="0">
                <a:solidFill>
                  <a:srgbClr val="212121"/>
                </a:solidFill>
                <a:latin typeface="Calibri"/>
              </a:defRPr>
            </a:pPr>
            <a:r>
              <a:t>A data engineer is planning to migrate their on-premises database to Amazon RDS. As part of the migration, they need to perform a schema conversion from the on-premises database to the Amazon RDS database. The data engineer also wants the solution to scan their application source code for embedded SQL statements and convert them as part of the project.</a:t>
            </a:r>
          </a:p>
        </p:txBody>
      </p:sp>
      <p:sp>
        <p:nvSpPr>
          <p:cNvPr id="7" name="TextBox 6"/>
          <p:cNvSpPr txBox="1"/>
          <p:nvPr/>
        </p:nvSpPr>
        <p:spPr>
          <a:xfrm>
            <a:off x="731520" y="2286000"/>
            <a:ext cx="10698480" cy="365760"/>
          </a:xfrm>
          <a:prstGeom prst="rect">
            <a:avLst/>
          </a:prstGeom>
          <a:noFill/>
        </p:spPr>
        <p:txBody>
          <a:bodyPr wrap="square">
            <a:spAutoFit/>
          </a:bodyPr>
          <a:lstStyle/>
          <a:p>
            <a:pPr algn="l">
              <a:defRPr sz="1400" b="1">
                <a:solidFill>
                  <a:srgbClr val="232F3E"/>
                </a:solidFill>
                <a:latin typeface="Calibri"/>
              </a:defRPr>
            </a:pPr>
            <a:r>
              <a:t>What is the recommended approach to perform the schema conversion for the migration in the most operationally efficient way?</a:t>
            </a:r>
          </a:p>
        </p:txBody>
      </p:sp>
      <p:sp>
        <p:nvSpPr>
          <p:cNvPr id="8" name="Rounded Rectangle 7"/>
          <p:cNvSpPr/>
          <p:nvPr/>
        </p:nvSpPr>
        <p:spPr>
          <a:xfrm>
            <a:off x="731520" y="2926080"/>
            <a:ext cx="10698480" cy="658368"/>
          </a:xfrm>
          <a:prstGeom prst="roundRect">
            <a:avLst/>
          </a:prstGeom>
          <a:solidFill>
            <a:srgbClr val="FAFAFA"/>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3017520"/>
            <a:ext cx="411480" cy="411480"/>
          </a:xfrm>
          <a:prstGeom prst="roundRect">
            <a:avLst/>
          </a:prstGeom>
          <a:solidFill>
            <a:srgbClr val="7575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017520"/>
            <a:ext cx="411480" cy="411480"/>
          </a:xfrm>
          <a:prstGeom prst="rect">
            <a:avLst/>
          </a:prstGeom>
          <a:noFill/>
        </p:spPr>
        <p:txBody>
          <a:bodyPr wrap="square">
            <a:spAutoFit/>
          </a:bodyPr>
          <a:lstStyle/>
          <a:p>
            <a:pPr algn="ctr">
              <a:defRPr sz="1800" b="1">
                <a:solidFill>
                  <a:srgbClr val="FFFFFF"/>
                </a:solidFill>
                <a:latin typeface="Calibri"/>
              </a:defRPr>
            </a:pPr>
            <a:r>
              <a:t>A</a:t>
            </a:r>
          </a:p>
        </p:txBody>
      </p:sp>
      <p:sp>
        <p:nvSpPr>
          <p:cNvPr id="11" name="TextBox 10"/>
          <p:cNvSpPr txBox="1"/>
          <p:nvPr/>
        </p:nvSpPr>
        <p:spPr>
          <a:xfrm>
            <a:off x="1554480" y="3017520"/>
            <a:ext cx="9601200" cy="521208"/>
          </a:xfrm>
          <a:prstGeom prst="rect">
            <a:avLst/>
          </a:prstGeom>
          <a:noFill/>
        </p:spPr>
        <p:txBody>
          <a:bodyPr wrap="square">
            <a:spAutoFit/>
          </a:bodyPr>
          <a:lstStyle/>
          <a:p>
            <a:pPr algn="l">
              <a:defRPr sz="1200" b="0">
                <a:solidFill>
                  <a:srgbClr val="212121"/>
                </a:solidFill>
                <a:latin typeface="Calibri"/>
              </a:defRPr>
            </a:pPr>
            <a:r>
              <a:t>Use the AWS Database Migration Service (AWS DMS) to convert the database schema and migrate the data.</a:t>
            </a:r>
          </a:p>
        </p:txBody>
      </p:sp>
      <p:sp>
        <p:nvSpPr>
          <p:cNvPr id="12" name="Rounded Rectangle 11"/>
          <p:cNvSpPr/>
          <p:nvPr/>
        </p:nvSpPr>
        <p:spPr>
          <a:xfrm>
            <a:off x="731520" y="3657600"/>
            <a:ext cx="10698480" cy="658368"/>
          </a:xfrm>
          <a:prstGeom prst="roundRect">
            <a:avLst/>
          </a:prstGeom>
          <a:solidFill>
            <a:srgbClr val="FAFAFA"/>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14400" y="3749040"/>
            <a:ext cx="411480" cy="411480"/>
          </a:xfrm>
          <a:prstGeom prst="roundRect">
            <a:avLst/>
          </a:prstGeom>
          <a:solidFill>
            <a:srgbClr val="7575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749040"/>
            <a:ext cx="411480" cy="411480"/>
          </a:xfrm>
          <a:prstGeom prst="rect">
            <a:avLst/>
          </a:prstGeom>
          <a:noFill/>
        </p:spPr>
        <p:txBody>
          <a:bodyPr wrap="square">
            <a:spAutoFit/>
          </a:bodyPr>
          <a:lstStyle/>
          <a:p>
            <a:pPr algn="ctr">
              <a:defRPr sz="1800" b="1">
                <a:solidFill>
                  <a:srgbClr val="FFFFFF"/>
                </a:solidFill>
                <a:latin typeface="Calibri"/>
              </a:defRPr>
            </a:pPr>
            <a:r>
              <a:t>B</a:t>
            </a:r>
          </a:p>
        </p:txBody>
      </p:sp>
      <p:sp>
        <p:nvSpPr>
          <p:cNvPr id="15" name="TextBox 14"/>
          <p:cNvSpPr txBox="1"/>
          <p:nvPr/>
        </p:nvSpPr>
        <p:spPr>
          <a:xfrm>
            <a:off x="1554480" y="3749040"/>
            <a:ext cx="9601200" cy="521208"/>
          </a:xfrm>
          <a:prstGeom prst="rect">
            <a:avLst/>
          </a:prstGeom>
          <a:noFill/>
        </p:spPr>
        <p:txBody>
          <a:bodyPr wrap="square">
            <a:spAutoFit/>
          </a:bodyPr>
          <a:lstStyle/>
          <a:p>
            <a:pPr algn="l">
              <a:defRPr sz="1200" b="0">
                <a:solidFill>
                  <a:srgbClr val="212121"/>
                </a:solidFill>
                <a:latin typeface="Calibri"/>
              </a:defRPr>
            </a:pPr>
            <a:r>
              <a:t>Manually convert the database schema using SQL scripts and then use AWS DMS to migrate the data.</a:t>
            </a:r>
          </a:p>
        </p:txBody>
      </p:sp>
      <p:sp>
        <p:nvSpPr>
          <p:cNvPr id="16" name="Rounded Rectangle 15"/>
          <p:cNvSpPr/>
          <p:nvPr/>
        </p:nvSpPr>
        <p:spPr>
          <a:xfrm>
            <a:off x="731520" y="4389120"/>
            <a:ext cx="10698480" cy="658368"/>
          </a:xfrm>
          <a:prstGeom prst="roundRect">
            <a:avLst/>
          </a:prstGeom>
          <a:solidFill>
            <a:srgbClr val="FAFAFA"/>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14400" y="4480560"/>
            <a:ext cx="411480" cy="411480"/>
          </a:xfrm>
          <a:prstGeom prst="roundRect">
            <a:avLst/>
          </a:prstGeom>
          <a:solidFill>
            <a:srgbClr val="7575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480560"/>
            <a:ext cx="411480" cy="411480"/>
          </a:xfrm>
          <a:prstGeom prst="rect">
            <a:avLst/>
          </a:prstGeom>
          <a:noFill/>
        </p:spPr>
        <p:txBody>
          <a:bodyPr wrap="square">
            <a:spAutoFit/>
          </a:bodyPr>
          <a:lstStyle/>
          <a:p>
            <a:pPr algn="ctr">
              <a:defRPr sz="1800" b="1">
                <a:solidFill>
                  <a:srgbClr val="FFFFFF"/>
                </a:solidFill>
                <a:latin typeface="Calibri"/>
              </a:defRPr>
            </a:pPr>
            <a:r>
              <a:t>C</a:t>
            </a:r>
          </a:p>
        </p:txBody>
      </p:sp>
      <p:sp>
        <p:nvSpPr>
          <p:cNvPr id="19" name="TextBox 18"/>
          <p:cNvSpPr txBox="1"/>
          <p:nvPr/>
        </p:nvSpPr>
        <p:spPr>
          <a:xfrm>
            <a:off x="1554480" y="4480560"/>
            <a:ext cx="9601200" cy="521208"/>
          </a:xfrm>
          <a:prstGeom prst="rect">
            <a:avLst/>
          </a:prstGeom>
          <a:noFill/>
        </p:spPr>
        <p:txBody>
          <a:bodyPr wrap="square">
            <a:spAutoFit/>
          </a:bodyPr>
          <a:lstStyle/>
          <a:p>
            <a:pPr algn="l">
              <a:defRPr sz="1200" b="0">
                <a:solidFill>
                  <a:srgbClr val="212121"/>
                </a:solidFill>
                <a:latin typeface="Calibri"/>
              </a:defRPr>
            </a:pPr>
            <a:r>
              <a:t>Use the AWS Schema Conversion Tool (AWS SCT) to convert the database schema and then use AWS DMS to migrate the data.</a:t>
            </a:r>
          </a:p>
        </p:txBody>
      </p:sp>
      <p:sp>
        <p:nvSpPr>
          <p:cNvPr id="20" name="Rounded Rectangle 19"/>
          <p:cNvSpPr/>
          <p:nvPr/>
        </p:nvSpPr>
        <p:spPr>
          <a:xfrm>
            <a:off x="731520" y="5120640"/>
            <a:ext cx="10698480" cy="658368"/>
          </a:xfrm>
          <a:prstGeom prst="roundRect">
            <a:avLst/>
          </a:prstGeom>
          <a:solidFill>
            <a:srgbClr val="FAFAFA"/>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14400" y="5212080"/>
            <a:ext cx="411480" cy="411480"/>
          </a:xfrm>
          <a:prstGeom prst="roundRect">
            <a:avLst/>
          </a:prstGeom>
          <a:solidFill>
            <a:srgbClr val="7575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5212080"/>
            <a:ext cx="411480" cy="411480"/>
          </a:xfrm>
          <a:prstGeom prst="rect">
            <a:avLst/>
          </a:prstGeom>
          <a:noFill/>
        </p:spPr>
        <p:txBody>
          <a:bodyPr wrap="square">
            <a:spAutoFit/>
          </a:bodyPr>
          <a:lstStyle/>
          <a:p>
            <a:pPr algn="ctr">
              <a:defRPr sz="1800" b="1">
                <a:solidFill>
                  <a:srgbClr val="FFFFFF"/>
                </a:solidFill>
                <a:latin typeface="Calibri"/>
              </a:defRPr>
            </a:pPr>
            <a:r>
              <a:t>D</a:t>
            </a:r>
          </a:p>
        </p:txBody>
      </p:sp>
      <p:sp>
        <p:nvSpPr>
          <p:cNvPr id="23" name="TextBox 22"/>
          <p:cNvSpPr txBox="1"/>
          <p:nvPr/>
        </p:nvSpPr>
        <p:spPr>
          <a:xfrm>
            <a:off x="1554480" y="5212080"/>
            <a:ext cx="9601200" cy="521208"/>
          </a:xfrm>
          <a:prstGeom prst="rect">
            <a:avLst/>
          </a:prstGeom>
          <a:noFill/>
        </p:spPr>
        <p:txBody>
          <a:bodyPr wrap="square">
            <a:spAutoFit/>
          </a:bodyPr>
          <a:lstStyle/>
          <a:p>
            <a:pPr algn="l">
              <a:defRPr sz="1200" b="0">
                <a:solidFill>
                  <a:srgbClr val="212121"/>
                </a:solidFill>
                <a:latin typeface="Calibri"/>
              </a:defRPr>
            </a:pPr>
            <a:r>
              <a:t>Use the AWS Schema Conversion Tool (AWS SCT) to convert the database schema, and then use the AWS Transfer family to migrate the data the data.</a:t>
            </a:r>
          </a:p>
        </p:txBody>
      </p:sp>
      <p:pic>
        <p:nvPicPr>
          <p:cNvPr id="24" name="Picture 23" descr="countdown_2min.gif"/>
          <p:cNvPicPr>
            <a:picLocks noChangeAspect="1"/>
          </p:cNvPicPr>
          <p:nvPr/>
        </p:nvPicPr>
        <p:blipFill>
          <a:blip r:embed="rId2"/>
          <a:stretch>
            <a:fillRect/>
          </a:stretch>
        </p:blipFill>
        <p:spPr>
          <a:xfrm>
            <a:off x="9601200" y="5943600"/>
            <a:ext cx="2286000" cy="77724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274320"/>
            <a:ext cx="11247120" cy="685800"/>
          </a:xfrm>
          <a:prstGeom prst="roundRect">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47472"/>
            <a:ext cx="502920" cy="502920"/>
          </a:xfrm>
          <a:prstGeom prst="round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47472"/>
            <a:ext cx="502920" cy="502920"/>
          </a:xfrm>
          <a:prstGeom prst="rect">
            <a:avLst/>
          </a:prstGeom>
          <a:noFill/>
        </p:spPr>
        <p:txBody>
          <a:bodyPr wrap="square">
            <a:spAutoFit/>
          </a:bodyPr>
          <a:lstStyle/>
          <a:p>
            <a:pPr algn="ctr">
              <a:defRPr sz="2400" b="1">
                <a:solidFill>
                  <a:srgbClr val="FFFFFF"/>
                </a:solidFill>
                <a:latin typeface="Calibri"/>
              </a:defRPr>
            </a:pPr>
            <a:r>
              <a:t>A</a:t>
            </a:r>
          </a:p>
        </p:txBody>
      </p:sp>
      <p:sp>
        <p:nvSpPr>
          <p:cNvPr id="7" name="TextBox 6"/>
          <p:cNvSpPr txBox="1"/>
          <p:nvPr/>
        </p:nvSpPr>
        <p:spPr>
          <a:xfrm>
            <a:off x="1371600" y="347472"/>
            <a:ext cx="7315200" cy="548640"/>
          </a:xfrm>
          <a:prstGeom prst="rect">
            <a:avLst/>
          </a:prstGeom>
          <a:noFill/>
        </p:spPr>
        <p:txBody>
          <a:bodyPr wrap="square">
            <a:spAutoFit/>
          </a:bodyPr>
          <a:lstStyle/>
          <a:p>
            <a:pPr algn="l">
              <a:defRPr sz="2400" b="1">
                <a:solidFill>
                  <a:srgbClr val="FFFFFF"/>
                </a:solidFill>
                <a:latin typeface="Calibri"/>
              </a:defRPr>
            </a:pPr>
            <a:r>
              <a:t>AWS DMS Only</a:t>
            </a:r>
          </a:p>
        </p:txBody>
      </p:sp>
      <p:sp>
        <p:nvSpPr>
          <p:cNvPr id="8" name="Rounded Rectangle 7"/>
          <p:cNvSpPr/>
          <p:nvPr/>
        </p:nvSpPr>
        <p:spPr>
          <a:xfrm>
            <a:off x="9601200" y="384048"/>
            <a:ext cx="1920240" cy="457200"/>
          </a:xfrm>
          <a:prstGeom prst="round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0" y="384048"/>
            <a:ext cx="1920240" cy="457200"/>
          </a:xfrm>
          <a:prstGeom prst="rect">
            <a:avLst/>
          </a:prstGeom>
          <a:noFill/>
        </p:spPr>
        <p:txBody>
          <a:bodyPr wrap="square">
            <a:spAutoFit/>
          </a:bodyPr>
          <a:lstStyle/>
          <a:p>
            <a:pPr algn="ctr">
              <a:defRPr sz="1600" b="1">
                <a:solidFill>
                  <a:srgbClr val="FFFFFF"/>
                </a:solidFill>
                <a:latin typeface="Calibri"/>
              </a:defRPr>
            </a:pPr>
            <a:r>
              <a:t>INCORRECT</a:t>
            </a:r>
          </a:p>
        </p:txBody>
      </p:sp>
      <p:sp>
        <p:nvSpPr>
          <p:cNvPr id="10" name="Rounded Rectangle 9"/>
          <p:cNvSpPr/>
          <p:nvPr/>
        </p:nvSpPr>
        <p:spPr>
          <a:xfrm>
            <a:off x="484632" y="1060704"/>
            <a:ext cx="11219688" cy="594360"/>
          </a:xfrm>
          <a:prstGeom prst="roundRect">
            <a:avLst/>
          </a:prstGeom>
          <a:solidFill>
            <a:srgbClr val="FAFAFA"/>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7512" y="1152144"/>
            <a:ext cx="411480" cy="411480"/>
          </a:xfrm>
          <a:prstGeom prst="roundRect">
            <a:avLst/>
          </a:prstGeom>
          <a:solidFill>
            <a:srgbClr val="7575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 y="1152144"/>
            <a:ext cx="411480" cy="411480"/>
          </a:xfrm>
          <a:prstGeom prst="rect">
            <a:avLst/>
          </a:prstGeom>
          <a:noFill/>
        </p:spPr>
        <p:txBody>
          <a:bodyPr wrap="square">
            <a:spAutoFit/>
          </a:bodyPr>
          <a:lstStyle/>
          <a:p>
            <a:pPr algn="ctr">
              <a:defRPr sz="1600" b="1">
                <a:solidFill>
                  <a:srgbClr val="FFFFFF"/>
                </a:solidFill>
                <a:latin typeface="Calibri"/>
              </a:defRPr>
            </a:pPr>
            <a:r>
              <a:t>A</a:t>
            </a:r>
          </a:p>
        </p:txBody>
      </p:sp>
      <p:sp>
        <p:nvSpPr>
          <p:cNvPr id="13" name="TextBox 12"/>
          <p:cNvSpPr txBox="1"/>
          <p:nvPr/>
        </p:nvSpPr>
        <p:spPr>
          <a:xfrm>
            <a:off x="1307592" y="1152144"/>
            <a:ext cx="10213848" cy="274320"/>
          </a:xfrm>
          <a:prstGeom prst="rect">
            <a:avLst/>
          </a:prstGeom>
          <a:noFill/>
        </p:spPr>
        <p:txBody>
          <a:bodyPr wrap="square">
            <a:spAutoFit/>
          </a:bodyPr>
          <a:lstStyle/>
          <a:p>
            <a:pPr algn="l">
              <a:defRPr sz="1200" b="0">
                <a:solidFill>
                  <a:srgbClr val="212121"/>
                </a:solidFill>
                <a:latin typeface="Calibri"/>
              </a:defRPr>
            </a:pPr>
            <a:r>
              <a:t>Use the AWS Database Migration Service (AWS DMS) to convert the database schema and migrate the data.</a:t>
            </a:r>
          </a:p>
        </p:txBody>
      </p:sp>
      <p:pic>
        <p:nvPicPr>
          <p:cNvPr id="14" name="Picture 13" descr="option_a_dms_only.png"/>
          <p:cNvPicPr>
            <a:picLocks noChangeAspect="1"/>
          </p:cNvPicPr>
          <p:nvPr/>
        </p:nvPicPr>
        <p:blipFill>
          <a:blip r:embed="rId2"/>
          <a:stretch>
            <a:fillRect/>
          </a:stretch>
        </p:blipFill>
        <p:spPr>
          <a:xfrm>
            <a:off x="3638816" y="1783080"/>
            <a:ext cx="4883888" cy="2971800"/>
          </a:xfrm>
          <a:prstGeom prst="rect">
            <a:avLst/>
          </a:prstGeom>
        </p:spPr>
      </p:pic>
      <p:sp>
        <p:nvSpPr>
          <p:cNvPr id="15" name="Rounded Rectangle 14"/>
          <p:cNvSpPr/>
          <p:nvPr/>
        </p:nvSpPr>
        <p:spPr>
          <a:xfrm>
            <a:off x="457200" y="4901184"/>
            <a:ext cx="11247120" cy="1773936"/>
          </a:xfrm>
          <a:prstGeom prst="roundRect">
            <a:avLst/>
          </a:prstGeom>
          <a:solidFill>
            <a:srgbClr val="FAFAFA"/>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5074920"/>
            <a:ext cx="54864" cy="150876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038344"/>
            <a:ext cx="1371600" cy="320040"/>
          </a:xfrm>
          <a:prstGeom prst="rect">
            <a:avLst/>
          </a:prstGeom>
          <a:noFill/>
        </p:spPr>
        <p:txBody>
          <a:bodyPr wrap="square">
            <a:spAutoFit/>
          </a:bodyPr>
          <a:lstStyle/>
          <a:p>
            <a:pPr algn="l">
              <a:defRPr sz="1600" b="1">
                <a:solidFill>
                  <a:srgbClr val="C62828"/>
                </a:solidFill>
                <a:latin typeface="Calibri"/>
              </a:defRPr>
            </a:pPr>
            <a:r>
              <a:t>Incorrect</a:t>
            </a:r>
          </a:p>
        </p:txBody>
      </p:sp>
      <p:sp>
        <p:nvSpPr>
          <p:cNvPr id="18" name="TextBox 17"/>
          <p:cNvSpPr txBox="1"/>
          <p:nvPr/>
        </p:nvSpPr>
        <p:spPr>
          <a:xfrm>
            <a:off x="2011680" y="5038344"/>
            <a:ext cx="274320" cy="320040"/>
          </a:xfrm>
          <a:prstGeom prst="rect">
            <a:avLst/>
          </a:prstGeom>
          <a:noFill/>
        </p:spPr>
        <p:txBody>
          <a:bodyPr wrap="square">
            <a:spAutoFit/>
          </a:bodyPr>
          <a:lstStyle/>
          <a:p>
            <a:pPr algn="l">
              <a:defRPr sz="1600" b="1">
                <a:solidFill>
                  <a:srgbClr val="E0E0E0"/>
                </a:solidFill>
                <a:latin typeface="Calibri"/>
              </a:defRPr>
            </a:pPr>
            <a:r>
              <a:t>|</a:t>
            </a:r>
          </a:p>
        </p:txBody>
      </p:sp>
      <p:sp>
        <p:nvSpPr>
          <p:cNvPr id="19" name="TextBox 18"/>
          <p:cNvSpPr txBox="1"/>
          <p:nvPr/>
        </p:nvSpPr>
        <p:spPr>
          <a:xfrm>
            <a:off x="2240280" y="5038344"/>
            <a:ext cx="1371600" cy="320040"/>
          </a:xfrm>
          <a:prstGeom prst="rect">
            <a:avLst/>
          </a:prstGeom>
          <a:noFill/>
        </p:spPr>
        <p:txBody>
          <a:bodyPr wrap="square">
            <a:spAutoFit/>
          </a:bodyPr>
          <a:lstStyle/>
          <a:p>
            <a:pPr algn="l">
              <a:defRPr sz="1400" b="1">
                <a:solidFill>
                  <a:srgbClr val="232F3E"/>
                </a:solidFill>
                <a:latin typeface="Calibri"/>
              </a:defRPr>
            </a:pPr>
            <a:r>
              <a:t>Explanation</a:t>
            </a:r>
          </a:p>
        </p:txBody>
      </p:sp>
      <p:sp>
        <p:nvSpPr>
          <p:cNvPr id="20" name="Rectangle 19"/>
          <p:cNvSpPr/>
          <p:nvPr/>
        </p:nvSpPr>
        <p:spPr>
          <a:xfrm>
            <a:off x="777240" y="5404104"/>
            <a:ext cx="10698480"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486400"/>
            <a:ext cx="10698480" cy="1097280"/>
          </a:xfrm>
          <a:prstGeom prst="rect">
            <a:avLst/>
          </a:prstGeom>
          <a:noFill/>
        </p:spPr>
        <p:txBody>
          <a:bodyPr wrap="square">
            <a:spAutoFit/>
          </a:bodyPr>
          <a:lstStyle/>
          <a:p>
            <a:pPr>
              <a:lnSpc>
                <a:spcPts val="1800"/>
              </a:lnSpc>
              <a:defRPr>
                <a:latin typeface="Calibri"/>
              </a:defRPr>
            </a:pPr>
            <a:r>
              <a:rPr sz="1100">
                <a:solidFill>
                  <a:srgbClr val="757575"/>
                </a:solidFill>
                <a:latin typeface="Calibri"/>
              </a:rPr>
              <a:t>•  </a:t>
            </a:r>
            <a:r>
              <a:rPr sz="1100" b="0">
                <a:solidFill>
                  <a:srgbClr val="212121"/>
                </a:solidFill>
                <a:latin typeface="Calibri"/>
              </a:rPr>
              <a:t>DMS migrates data between source and target databases (full load + CDC)</a:t>
            </a:r>
          </a:p>
          <a:p>
            <a:pPr>
              <a:lnSpc>
                <a:spcPts val="1800"/>
              </a:lnSpc>
              <a:defRPr>
                <a:latin typeface="Calibri"/>
              </a:defRPr>
            </a:pPr>
            <a:r>
              <a:rPr sz="900" b="1">
                <a:solidFill>
                  <a:srgbClr val="C62828"/>
                </a:solidFill>
                <a:latin typeface="Calibri"/>
              </a:rPr>
              <a:t>▶  </a:t>
            </a:r>
            <a:r>
              <a:rPr sz="1100" b="1">
                <a:solidFill>
                  <a:srgbClr val="C62828"/>
                </a:solidFill>
                <a:latin typeface="Calibri"/>
              </a:rPr>
              <a:t>DMS does NOT perform schema conversion — it only moves data</a:t>
            </a:r>
          </a:p>
          <a:p>
            <a:pPr>
              <a:lnSpc>
                <a:spcPts val="1800"/>
              </a:lnSpc>
              <a:defRPr>
                <a:latin typeface="Calibri"/>
              </a:defRPr>
            </a:pPr>
            <a:r>
              <a:rPr sz="900" b="1">
                <a:solidFill>
                  <a:srgbClr val="C62828"/>
                </a:solidFill>
                <a:latin typeface="Calibri"/>
              </a:rPr>
              <a:t>▶  </a:t>
            </a:r>
            <a:r>
              <a:rPr sz="1100" b="1">
                <a:solidFill>
                  <a:srgbClr val="C62828"/>
                </a:solidFill>
                <a:latin typeface="Calibri"/>
              </a:rPr>
              <a:t>Cannot scan application source code for embedded SQL statements</a:t>
            </a:r>
          </a:p>
          <a:p>
            <a:pPr>
              <a:lnSpc>
                <a:spcPts val="1800"/>
              </a:lnSpc>
              <a:defRPr>
                <a:latin typeface="Calibri"/>
              </a:defRPr>
            </a:pPr>
            <a:r>
              <a:rPr sz="1100">
                <a:solidFill>
                  <a:srgbClr val="757575"/>
                </a:solidFill>
                <a:latin typeface="Calibri"/>
              </a:rPr>
              <a:t>•  </a:t>
            </a:r>
            <a:r>
              <a:rPr sz="1100" b="0">
                <a:solidFill>
                  <a:srgbClr val="212121"/>
                </a:solidFill>
                <a:latin typeface="Calibri"/>
              </a:rPr>
              <a:t>A separate tool (AWS SCT) is needed for schema and SQL conversion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274320"/>
            <a:ext cx="11247120" cy="685800"/>
          </a:xfrm>
          <a:prstGeom prst="roundRect">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47472"/>
            <a:ext cx="502920" cy="502920"/>
          </a:xfrm>
          <a:prstGeom prst="round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47472"/>
            <a:ext cx="502920" cy="502920"/>
          </a:xfrm>
          <a:prstGeom prst="rect">
            <a:avLst/>
          </a:prstGeom>
          <a:noFill/>
        </p:spPr>
        <p:txBody>
          <a:bodyPr wrap="square">
            <a:spAutoFit/>
          </a:bodyPr>
          <a:lstStyle/>
          <a:p>
            <a:pPr algn="ctr">
              <a:defRPr sz="2400" b="1">
                <a:solidFill>
                  <a:srgbClr val="FFFFFF"/>
                </a:solidFill>
                <a:latin typeface="Calibri"/>
              </a:defRPr>
            </a:pPr>
            <a:r>
              <a:t>B</a:t>
            </a:r>
          </a:p>
        </p:txBody>
      </p:sp>
      <p:sp>
        <p:nvSpPr>
          <p:cNvPr id="7" name="TextBox 6"/>
          <p:cNvSpPr txBox="1"/>
          <p:nvPr/>
        </p:nvSpPr>
        <p:spPr>
          <a:xfrm>
            <a:off x="1371600" y="347472"/>
            <a:ext cx="7315200" cy="548640"/>
          </a:xfrm>
          <a:prstGeom prst="rect">
            <a:avLst/>
          </a:prstGeom>
          <a:noFill/>
        </p:spPr>
        <p:txBody>
          <a:bodyPr wrap="square">
            <a:spAutoFit/>
          </a:bodyPr>
          <a:lstStyle/>
          <a:p>
            <a:pPr algn="l">
              <a:defRPr sz="2400" b="1">
                <a:solidFill>
                  <a:srgbClr val="FFFFFF"/>
                </a:solidFill>
                <a:latin typeface="Calibri"/>
              </a:defRPr>
            </a:pPr>
            <a:r>
              <a:t>Manual SQL Scripts + DMS</a:t>
            </a:r>
          </a:p>
        </p:txBody>
      </p:sp>
      <p:sp>
        <p:nvSpPr>
          <p:cNvPr id="8" name="Rounded Rectangle 7"/>
          <p:cNvSpPr/>
          <p:nvPr/>
        </p:nvSpPr>
        <p:spPr>
          <a:xfrm>
            <a:off x="9601200" y="384048"/>
            <a:ext cx="1920240" cy="457200"/>
          </a:xfrm>
          <a:prstGeom prst="round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0" y="384048"/>
            <a:ext cx="1920240" cy="457200"/>
          </a:xfrm>
          <a:prstGeom prst="rect">
            <a:avLst/>
          </a:prstGeom>
          <a:noFill/>
        </p:spPr>
        <p:txBody>
          <a:bodyPr wrap="square">
            <a:spAutoFit/>
          </a:bodyPr>
          <a:lstStyle/>
          <a:p>
            <a:pPr algn="ctr">
              <a:defRPr sz="1600" b="1">
                <a:solidFill>
                  <a:srgbClr val="FFFFFF"/>
                </a:solidFill>
                <a:latin typeface="Calibri"/>
              </a:defRPr>
            </a:pPr>
            <a:r>
              <a:t>INCORRECT</a:t>
            </a:r>
          </a:p>
        </p:txBody>
      </p:sp>
      <p:sp>
        <p:nvSpPr>
          <p:cNvPr id="10" name="Rounded Rectangle 9"/>
          <p:cNvSpPr/>
          <p:nvPr/>
        </p:nvSpPr>
        <p:spPr>
          <a:xfrm>
            <a:off x="484632" y="1060704"/>
            <a:ext cx="11219688" cy="594360"/>
          </a:xfrm>
          <a:prstGeom prst="roundRect">
            <a:avLst/>
          </a:prstGeom>
          <a:solidFill>
            <a:srgbClr val="FAFAFA"/>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7512" y="1152144"/>
            <a:ext cx="411480" cy="411480"/>
          </a:xfrm>
          <a:prstGeom prst="roundRect">
            <a:avLst/>
          </a:prstGeom>
          <a:solidFill>
            <a:srgbClr val="7575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 y="1152144"/>
            <a:ext cx="411480" cy="411480"/>
          </a:xfrm>
          <a:prstGeom prst="rect">
            <a:avLst/>
          </a:prstGeom>
          <a:noFill/>
        </p:spPr>
        <p:txBody>
          <a:bodyPr wrap="square">
            <a:spAutoFit/>
          </a:bodyPr>
          <a:lstStyle/>
          <a:p>
            <a:pPr algn="ctr">
              <a:defRPr sz="1600" b="1">
                <a:solidFill>
                  <a:srgbClr val="FFFFFF"/>
                </a:solidFill>
                <a:latin typeface="Calibri"/>
              </a:defRPr>
            </a:pPr>
            <a:r>
              <a:t>B</a:t>
            </a:r>
          </a:p>
        </p:txBody>
      </p:sp>
      <p:sp>
        <p:nvSpPr>
          <p:cNvPr id="13" name="TextBox 12"/>
          <p:cNvSpPr txBox="1"/>
          <p:nvPr/>
        </p:nvSpPr>
        <p:spPr>
          <a:xfrm>
            <a:off x="1307592" y="1152144"/>
            <a:ext cx="10213848" cy="274320"/>
          </a:xfrm>
          <a:prstGeom prst="rect">
            <a:avLst/>
          </a:prstGeom>
          <a:noFill/>
        </p:spPr>
        <p:txBody>
          <a:bodyPr wrap="square">
            <a:spAutoFit/>
          </a:bodyPr>
          <a:lstStyle/>
          <a:p>
            <a:pPr algn="l">
              <a:defRPr sz="1200" b="0">
                <a:solidFill>
                  <a:srgbClr val="212121"/>
                </a:solidFill>
                <a:latin typeface="Calibri"/>
              </a:defRPr>
            </a:pPr>
            <a:r>
              <a:t>Manually convert the database schema using SQL scripts and then use AWS DMS to migrate the data.</a:t>
            </a:r>
          </a:p>
        </p:txBody>
      </p:sp>
      <p:pic>
        <p:nvPicPr>
          <p:cNvPr id="14" name="Picture 13" descr="option_b_manual_sql.png"/>
          <p:cNvPicPr>
            <a:picLocks noChangeAspect="1"/>
          </p:cNvPicPr>
          <p:nvPr/>
        </p:nvPicPr>
        <p:blipFill>
          <a:blip r:embed="rId2"/>
          <a:stretch>
            <a:fillRect/>
          </a:stretch>
        </p:blipFill>
        <p:spPr>
          <a:xfrm>
            <a:off x="3344350" y="1783080"/>
            <a:ext cx="5472819" cy="2971800"/>
          </a:xfrm>
          <a:prstGeom prst="rect">
            <a:avLst/>
          </a:prstGeom>
        </p:spPr>
      </p:pic>
      <p:sp>
        <p:nvSpPr>
          <p:cNvPr id="15" name="Rounded Rectangle 14"/>
          <p:cNvSpPr/>
          <p:nvPr/>
        </p:nvSpPr>
        <p:spPr>
          <a:xfrm>
            <a:off x="457200" y="4901184"/>
            <a:ext cx="11247120" cy="1773936"/>
          </a:xfrm>
          <a:prstGeom prst="roundRect">
            <a:avLst/>
          </a:prstGeom>
          <a:solidFill>
            <a:srgbClr val="FAFAFA"/>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5074920"/>
            <a:ext cx="54864" cy="150876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038344"/>
            <a:ext cx="1371600" cy="320040"/>
          </a:xfrm>
          <a:prstGeom prst="rect">
            <a:avLst/>
          </a:prstGeom>
          <a:noFill/>
        </p:spPr>
        <p:txBody>
          <a:bodyPr wrap="square">
            <a:spAutoFit/>
          </a:bodyPr>
          <a:lstStyle/>
          <a:p>
            <a:pPr algn="l">
              <a:defRPr sz="1600" b="1">
                <a:solidFill>
                  <a:srgbClr val="C62828"/>
                </a:solidFill>
                <a:latin typeface="Calibri"/>
              </a:defRPr>
            </a:pPr>
            <a:r>
              <a:t>Incorrect</a:t>
            </a:r>
          </a:p>
        </p:txBody>
      </p:sp>
      <p:sp>
        <p:nvSpPr>
          <p:cNvPr id="18" name="TextBox 17"/>
          <p:cNvSpPr txBox="1"/>
          <p:nvPr/>
        </p:nvSpPr>
        <p:spPr>
          <a:xfrm>
            <a:off x="2011680" y="5038344"/>
            <a:ext cx="274320" cy="320040"/>
          </a:xfrm>
          <a:prstGeom prst="rect">
            <a:avLst/>
          </a:prstGeom>
          <a:noFill/>
        </p:spPr>
        <p:txBody>
          <a:bodyPr wrap="square">
            <a:spAutoFit/>
          </a:bodyPr>
          <a:lstStyle/>
          <a:p>
            <a:pPr algn="l">
              <a:defRPr sz="1600" b="1">
                <a:solidFill>
                  <a:srgbClr val="E0E0E0"/>
                </a:solidFill>
                <a:latin typeface="Calibri"/>
              </a:defRPr>
            </a:pPr>
            <a:r>
              <a:t>|</a:t>
            </a:r>
          </a:p>
        </p:txBody>
      </p:sp>
      <p:sp>
        <p:nvSpPr>
          <p:cNvPr id="19" name="TextBox 18"/>
          <p:cNvSpPr txBox="1"/>
          <p:nvPr/>
        </p:nvSpPr>
        <p:spPr>
          <a:xfrm>
            <a:off x="2240280" y="5038344"/>
            <a:ext cx="1371600" cy="320040"/>
          </a:xfrm>
          <a:prstGeom prst="rect">
            <a:avLst/>
          </a:prstGeom>
          <a:noFill/>
        </p:spPr>
        <p:txBody>
          <a:bodyPr wrap="square">
            <a:spAutoFit/>
          </a:bodyPr>
          <a:lstStyle/>
          <a:p>
            <a:pPr algn="l">
              <a:defRPr sz="1400" b="1">
                <a:solidFill>
                  <a:srgbClr val="232F3E"/>
                </a:solidFill>
                <a:latin typeface="Calibri"/>
              </a:defRPr>
            </a:pPr>
            <a:r>
              <a:t>Explanation</a:t>
            </a:r>
          </a:p>
        </p:txBody>
      </p:sp>
      <p:sp>
        <p:nvSpPr>
          <p:cNvPr id="20" name="Rectangle 19"/>
          <p:cNvSpPr/>
          <p:nvPr/>
        </p:nvSpPr>
        <p:spPr>
          <a:xfrm>
            <a:off x="777240" y="5404104"/>
            <a:ext cx="10698480"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486400"/>
            <a:ext cx="10698480" cy="1097280"/>
          </a:xfrm>
          <a:prstGeom prst="rect">
            <a:avLst/>
          </a:prstGeom>
          <a:noFill/>
        </p:spPr>
        <p:txBody>
          <a:bodyPr wrap="square">
            <a:spAutoFit/>
          </a:bodyPr>
          <a:lstStyle/>
          <a:p>
            <a:pPr>
              <a:lnSpc>
                <a:spcPts val="1800"/>
              </a:lnSpc>
              <a:defRPr>
                <a:latin typeface="Calibri"/>
              </a:defRPr>
            </a:pPr>
            <a:r>
              <a:rPr sz="1100">
                <a:solidFill>
                  <a:srgbClr val="757575"/>
                </a:solidFill>
                <a:latin typeface="Calibri"/>
              </a:rPr>
              <a:t>•  </a:t>
            </a:r>
            <a:r>
              <a:rPr sz="1100" b="0">
                <a:solidFill>
                  <a:srgbClr val="212121"/>
                </a:solidFill>
                <a:latin typeface="Calibri"/>
              </a:rPr>
              <a:t>Manually writing DDL conversion scripts is possible but error-prone and slow</a:t>
            </a:r>
          </a:p>
          <a:p>
            <a:pPr>
              <a:lnSpc>
                <a:spcPts val="1800"/>
              </a:lnSpc>
              <a:defRPr>
                <a:latin typeface="Calibri"/>
              </a:defRPr>
            </a:pPr>
            <a:r>
              <a:rPr sz="900" b="1">
                <a:solidFill>
                  <a:srgbClr val="C62828"/>
                </a:solidFill>
                <a:latin typeface="Calibri"/>
              </a:rPr>
              <a:t>▶  </a:t>
            </a:r>
            <a:r>
              <a:rPr sz="1100" b="1">
                <a:solidFill>
                  <a:srgbClr val="C62828"/>
                </a:solidFill>
                <a:latin typeface="Calibri"/>
              </a:rPr>
              <a:t>Not operationally efficient — AWS SCT automates this entire process</a:t>
            </a:r>
          </a:p>
          <a:p>
            <a:pPr>
              <a:lnSpc>
                <a:spcPts val="1800"/>
              </a:lnSpc>
              <a:defRPr>
                <a:latin typeface="Calibri"/>
              </a:defRPr>
            </a:pPr>
            <a:r>
              <a:rPr sz="900" b="1">
                <a:solidFill>
                  <a:srgbClr val="C62828"/>
                </a:solidFill>
                <a:latin typeface="Calibri"/>
              </a:rPr>
              <a:t>▶  </a:t>
            </a:r>
            <a:r>
              <a:rPr sz="1100" b="1">
                <a:solidFill>
                  <a:srgbClr val="C62828"/>
                </a:solidFill>
                <a:latin typeface="Calibri"/>
              </a:rPr>
              <a:t>Cannot automatically scan application code for embedded SQL</a:t>
            </a:r>
          </a:p>
          <a:p>
            <a:pPr>
              <a:lnSpc>
                <a:spcPts val="1800"/>
              </a:lnSpc>
              <a:defRPr>
                <a:latin typeface="Calibri"/>
              </a:defRPr>
            </a:pPr>
            <a:r>
              <a:rPr sz="1100">
                <a:solidFill>
                  <a:srgbClr val="757575"/>
                </a:solidFill>
                <a:latin typeface="Calibri"/>
              </a:rPr>
              <a:t>•  </a:t>
            </a:r>
            <a:r>
              <a:rPr sz="1100" b="0">
                <a:solidFill>
                  <a:srgbClr val="212121"/>
                </a:solidFill>
                <a:latin typeface="Calibri"/>
              </a:rPr>
              <a:t>DMS for data migration is correct, but the schema step adds unnecessary manual effort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274320"/>
            <a:ext cx="11247120" cy="685800"/>
          </a:xfrm>
          <a:prstGeom prst="roundRect">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47472"/>
            <a:ext cx="502920" cy="50292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47472"/>
            <a:ext cx="502920" cy="502920"/>
          </a:xfrm>
          <a:prstGeom prst="rect">
            <a:avLst/>
          </a:prstGeom>
          <a:noFill/>
        </p:spPr>
        <p:txBody>
          <a:bodyPr wrap="square">
            <a:spAutoFit/>
          </a:bodyPr>
          <a:lstStyle/>
          <a:p>
            <a:pPr algn="ctr">
              <a:defRPr sz="2400" b="1">
                <a:solidFill>
                  <a:srgbClr val="FFFFFF"/>
                </a:solidFill>
                <a:latin typeface="Calibri"/>
              </a:defRPr>
            </a:pPr>
            <a:r>
              <a:t>C</a:t>
            </a:r>
          </a:p>
        </p:txBody>
      </p:sp>
      <p:sp>
        <p:nvSpPr>
          <p:cNvPr id="7" name="TextBox 6"/>
          <p:cNvSpPr txBox="1"/>
          <p:nvPr/>
        </p:nvSpPr>
        <p:spPr>
          <a:xfrm>
            <a:off x="1371600" y="347472"/>
            <a:ext cx="7315200" cy="548640"/>
          </a:xfrm>
          <a:prstGeom prst="rect">
            <a:avLst/>
          </a:prstGeom>
          <a:noFill/>
        </p:spPr>
        <p:txBody>
          <a:bodyPr wrap="square">
            <a:spAutoFit/>
          </a:bodyPr>
          <a:lstStyle/>
          <a:p>
            <a:pPr algn="l">
              <a:defRPr sz="2400" b="1">
                <a:solidFill>
                  <a:srgbClr val="FFFFFF"/>
                </a:solidFill>
                <a:latin typeface="Calibri"/>
              </a:defRPr>
            </a:pPr>
            <a:r>
              <a:t>AWS SCT + AWS DMS</a:t>
            </a:r>
          </a:p>
        </p:txBody>
      </p:sp>
      <p:sp>
        <p:nvSpPr>
          <p:cNvPr id="8" name="Rounded Rectangle 7"/>
          <p:cNvSpPr/>
          <p:nvPr/>
        </p:nvSpPr>
        <p:spPr>
          <a:xfrm>
            <a:off x="9601200" y="384048"/>
            <a:ext cx="1920240" cy="45720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0" y="384048"/>
            <a:ext cx="1920240" cy="457200"/>
          </a:xfrm>
          <a:prstGeom prst="rect">
            <a:avLst/>
          </a:prstGeom>
          <a:noFill/>
        </p:spPr>
        <p:txBody>
          <a:bodyPr wrap="square">
            <a:spAutoFit/>
          </a:bodyPr>
          <a:lstStyle/>
          <a:p>
            <a:pPr algn="ctr">
              <a:defRPr sz="1600" b="1">
                <a:solidFill>
                  <a:srgbClr val="FFFFFF"/>
                </a:solidFill>
                <a:latin typeface="Calibri"/>
              </a:defRPr>
            </a:pPr>
            <a:r>
              <a:t>CORRECT</a:t>
            </a:r>
          </a:p>
        </p:txBody>
      </p:sp>
      <p:sp>
        <p:nvSpPr>
          <p:cNvPr id="10" name="Rounded Rectangle 9"/>
          <p:cNvSpPr/>
          <p:nvPr/>
        </p:nvSpPr>
        <p:spPr>
          <a:xfrm>
            <a:off x="484632" y="1060704"/>
            <a:ext cx="11219688" cy="594360"/>
          </a:xfrm>
          <a:prstGeom prst="roundRect">
            <a:avLst/>
          </a:prstGeom>
          <a:solidFill>
            <a:srgbClr val="FAFAFA"/>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7512" y="1152144"/>
            <a:ext cx="411480" cy="411480"/>
          </a:xfrm>
          <a:prstGeom prst="roundRect">
            <a:avLst/>
          </a:prstGeom>
          <a:solidFill>
            <a:srgbClr val="7575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 y="1152144"/>
            <a:ext cx="411480" cy="411480"/>
          </a:xfrm>
          <a:prstGeom prst="rect">
            <a:avLst/>
          </a:prstGeom>
          <a:noFill/>
        </p:spPr>
        <p:txBody>
          <a:bodyPr wrap="square">
            <a:spAutoFit/>
          </a:bodyPr>
          <a:lstStyle/>
          <a:p>
            <a:pPr algn="ctr">
              <a:defRPr sz="1600" b="1">
                <a:solidFill>
                  <a:srgbClr val="FFFFFF"/>
                </a:solidFill>
                <a:latin typeface="Calibri"/>
              </a:defRPr>
            </a:pPr>
            <a:r>
              <a:t>C</a:t>
            </a:r>
          </a:p>
        </p:txBody>
      </p:sp>
      <p:sp>
        <p:nvSpPr>
          <p:cNvPr id="13" name="TextBox 12"/>
          <p:cNvSpPr txBox="1"/>
          <p:nvPr/>
        </p:nvSpPr>
        <p:spPr>
          <a:xfrm>
            <a:off x="1307592" y="1152144"/>
            <a:ext cx="10213848" cy="274320"/>
          </a:xfrm>
          <a:prstGeom prst="rect">
            <a:avLst/>
          </a:prstGeom>
          <a:noFill/>
        </p:spPr>
        <p:txBody>
          <a:bodyPr wrap="square">
            <a:spAutoFit/>
          </a:bodyPr>
          <a:lstStyle/>
          <a:p>
            <a:pPr algn="l">
              <a:defRPr sz="1200" b="0">
                <a:solidFill>
                  <a:srgbClr val="212121"/>
                </a:solidFill>
                <a:latin typeface="Calibri"/>
              </a:defRPr>
            </a:pPr>
            <a:r>
              <a:t>Use the AWS Schema Conversion Tool (AWS SCT) to convert the database schema and then use AWS DMS to migrate the data.</a:t>
            </a:r>
          </a:p>
        </p:txBody>
      </p:sp>
      <p:pic>
        <p:nvPicPr>
          <p:cNvPr id="14" name="Picture 13" descr="option_c_sct_dms.png"/>
          <p:cNvPicPr>
            <a:picLocks noChangeAspect="1"/>
          </p:cNvPicPr>
          <p:nvPr/>
        </p:nvPicPr>
        <p:blipFill>
          <a:blip r:embed="rId2"/>
          <a:stretch>
            <a:fillRect/>
          </a:stretch>
        </p:blipFill>
        <p:spPr>
          <a:xfrm>
            <a:off x="3416119" y="1783080"/>
            <a:ext cx="5329282" cy="2971800"/>
          </a:xfrm>
          <a:prstGeom prst="rect">
            <a:avLst/>
          </a:prstGeom>
        </p:spPr>
      </p:pic>
      <p:sp>
        <p:nvSpPr>
          <p:cNvPr id="15" name="Rounded Rectangle 14"/>
          <p:cNvSpPr/>
          <p:nvPr/>
        </p:nvSpPr>
        <p:spPr>
          <a:xfrm>
            <a:off x="457200" y="4901184"/>
            <a:ext cx="11247120" cy="1773936"/>
          </a:xfrm>
          <a:prstGeom prst="roundRect">
            <a:avLst/>
          </a:prstGeom>
          <a:solidFill>
            <a:srgbClr val="FAFAFA"/>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5074920"/>
            <a:ext cx="54864" cy="150876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038344"/>
            <a:ext cx="1371600" cy="320040"/>
          </a:xfrm>
          <a:prstGeom prst="rect">
            <a:avLst/>
          </a:prstGeom>
          <a:noFill/>
        </p:spPr>
        <p:txBody>
          <a:bodyPr wrap="square">
            <a:spAutoFit/>
          </a:bodyPr>
          <a:lstStyle/>
          <a:p>
            <a:pPr algn="l">
              <a:defRPr sz="1600" b="1">
                <a:solidFill>
                  <a:srgbClr val="2E7D32"/>
                </a:solidFill>
                <a:latin typeface="Calibri"/>
              </a:defRPr>
            </a:pPr>
            <a:r>
              <a:t>Correct</a:t>
            </a:r>
          </a:p>
        </p:txBody>
      </p:sp>
      <p:sp>
        <p:nvSpPr>
          <p:cNvPr id="18" name="TextBox 17"/>
          <p:cNvSpPr txBox="1"/>
          <p:nvPr/>
        </p:nvSpPr>
        <p:spPr>
          <a:xfrm>
            <a:off x="2011680" y="5038344"/>
            <a:ext cx="274320" cy="320040"/>
          </a:xfrm>
          <a:prstGeom prst="rect">
            <a:avLst/>
          </a:prstGeom>
          <a:noFill/>
        </p:spPr>
        <p:txBody>
          <a:bodyPr wrap="square">
            <a:spAutoFit/>
          </a:bodyPr>
          <a:lstStyle/>
          <a:p>
            <a:pPr algn="l">
              <a:defRPr sz="1600" b="1">
                <a:solidFill>
                  <a:srgbClr val="E0E0E0"/>
                </a:solidFill>
                <a:latin typeface="Calibri"/>
              </a:defRPr>
            </a:pPr>
            <a:r>
              <a:t>|</a:t>
            </a:r>
          </a:p>
        </p:txBody>
      </p:sp>
      <p:sp>
        <p:nvSpPr>
          <p:cNvPr id="19" name="TextBox 18"/>
          <p:cNvSpPr txBox="1"/>
          <p:nvPr/>
        </p:nvSpPr>
        <p:spPr>
          <a:xfrm>
            <a:off x="2240280" y="5038344"/>
            <a:ext cx="1371600" cy="320040"/>
          </a:xfrm>
          <a:prstGeom prst="rect">
            <a:avLst/>
          </a:prstGeom>
          <a:noFill/>
        </p:spPr>
        <p:txBody>
          <a:bodyPr wrap="square">
            <a:spAutoFit/>
          </a:bodyPr>
          <a:lstStyle/>
          <a:p>
            <a:pPr algn="l">
              <a:defRPr sz="1400" b="1">
                <a:solidFill>
                  <a:srgbClr val="232F3E"/>
                </a:solidFill>
                <a:latin typeface="Calibri"/>
              </a:defRPr>
            </a:pPr>
            <a:r>
              <a:t>Explanation</a:t>
            </a:r>
          </a:p>
        </p:txBody>
      </p:sp>
      <p:sp>
        <p:nvSpPr>
          <p:cNvPr id="20" name="Rectangle 19"/>
          <p:cNvSpPr/>
          <p:nvPr/>
        </p:nvSpPr>
        <p:spPr>
          <a:xfrm>
            <a:off x="777240" y="5404104"/>
            <a:ext cx="10698480"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486400"/>
            <a:ext cx="10698480" cy="1097280"/>
          </a:xfrm>
          <a:prstGeom prst="rect">
            <a:avLst/>
          </a:prstGeom>
          <a:noFill/>
        </p:spPr>
        <p:txBody>
          <a:bodyPr wrap="square">
            <a:spAutoFit/>
          </a:bodyPr>
          <a:lstStyle/>
          <a:p>
            <a:pPr>
              <a:lnSpc>
                <a:spcPts val="1800"/>
              </a:lnSpc>
              <a:defRPr>
                <a:latin typeface="Calibri"/>
              </a:defRPr>
            </a:pPr>
            <a:r>
              <a:rPr sz="1100">
                <a:solidFill>
                  <a:srgbClr val="757575"/>
                </a:solidFill>
                <a:latin typeface="Calibri"/>
              </a:rPr>
              <a:t>•  </a:t>
            </a:r>
            <a:r>
              <a:rPr sz="1100" b="0">
                <a:solidFill>
                  <a:srgbClr val="212121"/>
                </a:solidFill>
                <a:latin typeface="Calibri"/>
              </a:rPr>
              <a:t>SCT auto-converts database schema: DDL, stored procedures, functions, views</a:t>
            </a:r>
          </a:p>
          <a:p>
            <a:pPr>
              <a:lnSpc>
                <a:spcPts val="1800"/>
              </a:lnSpc>
              <a:defRPr>
                <a:latin typeface="Calibri"/>
              </a:defRPr>
            </a:pPr>
            <a:r>
              <a:rPr sz="900" b="1">
                <a:solidFill>
                  <a:srgbClr val="2E7D32"/>
                </a:solidFill>
                <a:latin typeface="Calibri"/>
              </a:rPr>
              <a:t>▶  </a:t>
            </a:r>
            <a:r>
              <a:rPr sz="1100" b="1">
                <a:solidFill>
                  <a:srgbClr val="2E7D32"/>
                </a:solidFill>
                <a:latin typeface="Calibri"/>
              </a:rPr>
              <a:t>SCT scans application source code for embedded SQL and converts it automatically</a:t>
            </a:r>
          </a:p>
          <a:p>
            <a:pPr>
              <a:lnSpc>
                <a:spcPts val="1800"/>
              </a:lnSpc>
              <a:defRPr>
                <a:latin typeface="Calibri"/>
              </a:defRPr>
            </a:pPr>
            <a:r>
              <a:rPr sz="1100">
                <a:solidFill>
                  <a:srgbClr val="757575"/>
                </a:solidFill>
                <a:latin typeface="Calibri"/>
              </a:rPr>
              <a:t>•  </a:t>
            </a:r>
            <a:r>
              <a:rPr sz="1100" b="0">
                <a:solidFill>
                  <a:srgbClr val="212121"/>
                </a:solidFill>
                <a:latin typeface="Calibri"/>
              </a:rPr>
              <a:t>SCT generates an assessment report flagging items needing manual attention</a:t>
            </a:r>
          </a:p>
          <a:p>
            <a:pPr>
              <a:lnSpc>
                <a:spcPts val="1800"/>
              </a:lnSpc>
              <a:defRPr>
                <a:latin typeface="Calibri"/>
              </a:defRPr>
            </a:pPr>
            <a:r>
              <a:rPr sz="1100">
                <a:solidFill>
                  <a:srgbClr val="757575"/>
                </a:solidFill>
                <a:latin typeface="Calibri"/>
              </a:rPr>
              <a:t>•  </a:t>
            </a:r>
            <a:r>
              <a:rPr sz="1100" b="0">
                <a:solidFill>
                  <a:srgbClr val="212121"/>
                </a:solidFill>
                <a:latin typeface="Calibri"/>
              </a:rPr>
              <a:t>DMS handles data migration with full load + change data capture (CDC)</a:t>
            </a:r>
          </a:p>
          <a:p>
            <a:pPr>
              <a:lnSpc>
                <a:spcPts val="1800"/>
              </a:lnSpc>
              <a:defRPr>
                <a:latin typeface="Calibri"/>
              </a:defRPr>
            </a:pPr>
            <a:r>
              <a:rPr sz="900" b="1">
                <a:solidFill>
                  <a:srgbClr val="2E7D32"/>
                </a:solidFill>
                <a:latin typeface="Calibri"/>
              </a:rPr>
              <a:t>▶  </a:t>
            </a:r>
            <a:r>
              <a:rPr sz="1100" b="1">
                <a:solidFill>
                  <a:srgbClr val="2E7D32"/>
                </a:solidFill>
                <a:latin typeface="Calibri"/>
              </a:rPr>
              <a:t>Purpose-built combination: SCT for schema, DMS for data — most operationally efficient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274320"/>
            <a:ext cx="11247120" cy="685800"/>
          </a:xfrm>
          <a:prstGeom prst="roundRect">
            <a:avLst/>
          </a:prstGeom>
          <a:solidFill>
            <a:srgbClr val="232F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347472"/>
            <a:ext cx="502920" cy="502920"/>
          </a:xfrm>
          <a:prstGeom prst="round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47472"/>
            <a:ext cx="502920" cy="502920"/>
          </a:xfrm>
          <a:prstGeom prst="rect">
            <a:avLst/>
          </a:prstGeom>
          <a:noFill/>
        </p:spPr>
        <p:txBody>
          <a:bodyPr wrap="square">
            <a:spAutoFit/>
          </a:bodyPr>
          <a:lstStyle/>
          <a:p>
            <a:pPr algn="ctr">
              <a:defRPr sz="2400" b="1">
                <a:solidFill>
                  <a:srgbClr val="FFFFFF"/>
                </a:solidFill>
                <a:latin typeface="Calibri"/>
              </a:defRPr>
            </a:pPr>
            <a:r>
              <a:t>D</a:t>
            </a:r>
          </a:p>
        </p:txBody>
      </p:sp>
      <p:sp>
        <p:nvSpPr>
          <p:cNvPr id="7" name="TextBox 6"/>
          <p:cNvSpPr txBox="1"/>
          <p:nvPr/>
        </p:nvSpPr>
        <p:spPr>
          <a:xfrm>
            <a:off x="1371600" y="347472"/>
            <a:ext cx="7315200" cy="548640"/>
          </a:xfrm>
          <a:prstGeom prst="rect">
            <a:avLst/>
          </a:prstGeom>
          <a:noFill/>
        </p:spPr>
        <p:txBody>
          <a:bodyPr wrap="square">
            <a:spAutoFit/>
          </a:bodyPr>
          <a:lstStyle/>
          <a:p>
            <a:pPr algn="l">
              <a:defRPr sz="2400" b="1">
                <a:solidFill>
                  <a:srgbClr val="FFFFFF"/>
                </a:solidFill>
                <a:latin typeface="Calibri"/>
              </a:defRPr>
            </a:pPr>
            <a:r>
              <a:t>AWS SCT + Transfer Family</a:t>
            </a:r>
          </a:p>
        </p:txBody>
      </p:sp>
      <p:sp>
        <p:nvSpPr>
          <p:cNvPr id="8" name="Rounded Rectangle 7"/>
          <p:cNvSpPr/>
          <p:nvPr/>
        </p:nvSpPr>
        <p:spPr>
          <a:xfrm>
            <a:off x="9601200" y="384048"/>
            <a:ext cx="1920240" cy="457200"/>
          </a:xfrm>
          <a:prstGeom prst="round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0" y="384048"/>
            <a:ext cx="1920240" cy="457200"/>
          </a:xfrm>
          <a:prstGeom prst="rect">
            <a:avLst/>
          </a:prstGeom>
          <a:noFill/>
        </p:spPr>
        <p:txBody>
          <a:bodyPr wrap="square">
            <a:spAutoFit/>
          </a:bodyPr>
          <a:lstStyle/>
          <a:p>
            <a:pPr algn="ctr">
              <a:defRPr sz="1600" b="1">
                <a:solidFill>
                  <a:srgbClr val="FFFFFF"/>
                </a:solidFill>
                <a:latin typeface="Calibri"/>
              </a:defRPr>
            </a:pPr>
            <a:r>
              <a:t>INCORRECT</a:t>
            </a:r>
          </a:p>
        </p:txBody>
      </p:sp>
      <p:sp>
        <p:nvSpPr>
          <p:cNvPr id="10" name="Rounded Rectangle 9"/>
          <p:cNvSpPr/>
          <p:nvPr/>
        </p:nvSpPr>
        <p:spPr>
          <a:xfrm>
            <a:off x="484632" y="1060704"/>
            <a:ext cx="11219688" cy="594360"/>
          </a:xfrm>
          <a:prstGeom prst="roundRect">
            <a:avLst/>
          </a:prstGeom>
          <a:solidFill>
            <a:srgbClr val="FAFAFA"/>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7512" y="1152144"/>
            <a:ext cx="411480" cy="411480"/>
          </a:xfrm>
          <a:prstGeom prst="roundRect">
            <a:avLst/>
          </a:prstGeom>
          <a:solidFill>
            <a:srgbClr val="7575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 y="1152144"/>
            <a:ext cx="411480" cy="411480"/>
          </a:xfrm>
          <a:prstGeom prst="rect">
            <a:avLst/>
          </a:prstGeom>
          <a:noFill/>
        </p:spPr>
        <p:txBody>
          <a:bodyPr wrap="square">
            <a:spAutoFit/>
          </a:bodyPr>
          <a:lstStyle/>
          <a:p>
            <a:pPr algn="ctr">
              <a:defRPr sz="1600" b="1">
                <a:solidFill>
                  <a:srgbClr val="FFFFFF"/>
                </a:solidFill>
                <a:latin typeface="Calibri"/>
              </a:defRPr>
            </a:pPr>
            <a:r>
              <a:t>D</a:t>
            </a:r>
          </a:p>
        </p:txBody>
      </p:sp>
      <p:sp>
        <p:nvSpPr>
          <p:cNvPr id="13" name="TextBox 12"/>
          <p:cNvSpPr txBox="1"/>
          <p:nvPr/>
        </p:nvSpPr>
        <p:spPr>
          <a:xfrm>
            <a:off x="1307592" y="1152144"/>
            <a:ext cx="10213848" cy="274320"/>
          </a:xfrm>
          <a:prstGeom prst="rect">
            <a:avLst/>
          </a:prstGeom>
          <a:noFill/>
        </p:spPr>
        <p:txBody>
          <a:bodyPr wrap="square">
            <a:spAutoFit/>
          </a:bodyPr>
          <a:lstStyle/>
          <a:p>
            <a:pPr algn="l">
              <a:defRPr sz="1200" b="0">
                <a:solidFill>
                  <a:srgbClr val="212121"/>
                </a:solidFill>
                <a:latin typeface="Calibri"/>
              </a:defRPr>
            </a:pPr>
            <a:r>
              <a:t>Use the AWS Schema Conversion Tool (AWS SCT) to convert the database schema, and then use the AWS Transfer family to migrate the data the data.</a:t>
            </a:r>
          </a:p>
        </p:txBody>
      </p:sp>
      <p:pic>
        <p:nvPicPr>
          <p:cNvPr id="14" name="Picture 13" descr="option_d_sct_transfer.png"/>
          <p:cNvPicPr>
            <a:picLocks noChangeAspect="1"/>
          </p:cNvPicPr>
          <p:nvPr/>
        </p:nvPicPr>
        <p:blipFill>
          <a:blip r:embed="rId2"/>
          <a:stretch>
            <a:fillRect/>
          </a:stretch>
        </p:blipFill>
        <p:spPr>
          <a:xfrm>
            <a:off x="3151375" y="1783080"/>
            <a:ext cx="5858769" cy="2971800"/>
          </a:xfrm>
          <a:prstGeom prst="rect">
            <a:avLst/>
          </a:prstGeom>
        </p:spPr>
      </p:pic>
      <p:sp>
        <p:nvSpPr>
          <p:cNvPr id="15" name="Rounded Rectangle 14"/>
          <p:cNvSpPr/>
          <p:nvPr/>
        </p:nvSpPr>
        <p:spPr>
          <a:xfrm>
            <a:off x="457200" y="4901184"/>
            <a:ext cx="11247120" cy="1773936"/>
          </a:xfrm>
          <a:prstGeom prst="roundRect">
            <a:avLst/>
          </a:prstGeom>
          <a:solidFill>
            <a:srgbClr val="FAFAFA"/>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5074920"/>
            <a:ext cx="54864" cy="150876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038344"/>
            <a:ext cx="1371600" cy="320040"/>
          </a:xfrm>
          <a:prstGeom prst="rect">
            <a:avLst/>
          </a:prstGeom>
          <a:noFill/>
        </p:spPr>
        <p:txBody>
          <a:bodyPr wrap="square">
            <a:spAutoFit/>
          </a:bodyPr>
          <a:lstStyle/>
          <a:p>
            <a:pPr algn="l">
              <a:defRPr sz="1600" b="1">
                <a:solidFill>
                  <a:srgbClr val="C62828"/>
                </a:solidFill>
                <a:latin typeface="Calibri"/>
              </a:defRPr>
            </a:pPr>
            <a:r>
              <a:t>Incorrect</a:t>
            </a:r>
          </a:p>
        </p:txBody>
      </p:sp>
      <p:sp>
        <p:nvSpPr>
          <p:cNvPr id="18" name="TextBox 17"/>
          <p:cNvSpPr txBox="1"/>
          <p:nvPr/>
        </p:nvSpPr>
        <p:spPr>
          <a:xfrm>
            <a:off x="2011680" y="5038344"/>
            <a:ext cx="274320" cy="320040"/>
          </a:xfrm>
          <a:prstGeom prst="rect">
            <a:avLst/>
          </a:prstGeom>
          <a:noFill/>
        </p:spPr>
        <p:txBody>
          <a:bodyPr wrap="square">
            <a:spAutoFit/>
          </a:bodyPr>
          <a:lstStyle/>
          <a:p>
            <a:pPr algn="l">
              <a:defRPr sz="1600" b="1">
                <a:solidFill>
                  <a:srgbClr val="E0E0E0"/>
                </a:solidFill>
                <a:latin typeface="Calibri"/>
              </a:defRPr>
            </a:pPr>
            <a:r>
              <a:t>|</a:t>
            </a:r>
          </a:p>
        </p:txBody>
      </p:sp>
      <p:sp>
        <p:nvSpPr>
          <p:cNvPr id="19" name="TextBox 18"/>
          <p:cNvSpPr txBox="1"/>
          <p:nvPr/>
        </p:nvSpPr>
        <p:spPr>
          <a:xfrm>
            <a:off x="2240280" y="5038344"/>
            <a:ext cx="1371600" cy="320040"/>
          </a:xfrm>
          <a:prstGeom prst="rect">
            <a:avLst/>
          </a:prstGeom>
          <a:noFill/>
        </p:spPr>
        <p:txBody>
          <a:bodyPr wrap="square">
            <a:spAutoFit/>
          </a:bodyPr>
          <a:lstStyle/>
          <a:p>
            <a:pPr algn="l">
              <a:defRPr sz="1400" b="1">
                <a:solidFill>
                  <a:srgbClr val="232F3E"/>
                </a:solidFill>
                <a:latin typeface="Calibri"/>
              </a:defRPr>
            </a:pPr>
            <a:r>
              <a:t>Explanation</a:t>
            </a:r>
          </a:p>
        </p:txBody>
      </p:sp>
      <p:sp>
        <p:nvSpPr>
          <p:cNvPr id="20" name="Rectangle 19"/>
          <p:cNvSpPr/>
          <p:nvPr/>
        </p:nvSpPr>
        <p:spPr>
          <a:xfrm>
            <a:off x="777240" y="5404104"/>
            <a:ext cx="10698480" cy="1371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5486400"/>
            <a:ext cx="10698480" cy="1097280"/>
          </a:xfrm>
          <a:prstGeom prst="rect">
            <a:avLst/>
          </a:prstGeom>
          <a:noFill/>
        </p:spPr>
        <p:txBody>
          <a:bodyPr wrap="square">
            <a:spAutoFit/>
          </a:bodyPr>
          <a:lstStyle/>
          <a:p>
            <a:pPr>
              <a:lnSpc>
                <a:spcPts val="1800"/>
              </a:lnSpc>
              <a:defRPr>
                <a:latin typeface="Calibri"/>
              </a:defRPr>
            </a:pPr>
            <a:r>
              <a:rPr sz="1100">
                <a:solidFill>
                  <a:srgbClr val="757575"/>
                </a:solidFill>
                <a:latin typeface="Calibri"/>
              </a:rPr>
              <a:t>•  </a:t>
            </a:r>
            <a:r>
              <a:rPr sz="1100" b="0">
                <a:solidFill>
                  <a:srgbClr val="212121"/>
                </a:solidFill>
                <a:latin typeface="Calibri"/>
              </a:rPr>
              <a:t>SCT for schema conversion is correct — handles DDL and SQL conversion</a:t>
            </a:r>
          </a:p>
          <a:p>
            <a:pPr>
              <a:lnSpc>
                <a:spcPts val="1800"/>
              </a:lnSpc>
              <a:defRPr>
                <a:latin typeface="Calibri"/>
              </a:defRPr>
            </a:pPr>
            <a:r>
              <a:rPr sz="900" b="1">
                <a:solidFill>
                  <a:srgbClr val="C62828"/>
                </a:solidFill>
                <a:latin typeface="Calibri"/>
              </a:rPr>
              <a:t>▶  </a:t>
            </a:r>
            <a:r>
              <a:rPr sz="1100" b="1">
                <a:solidFill>
                  <a:srgbClr val="C62828"/>
                </a:solidFill>
                <a:latin typeface="Calibri"/>
              </a:rPr>
              <a:t>AWS Transfer Family is for SFTP/FTPS/FTP file transfers to S3 — not database migration</a:t>
            </a:r>
          </a:p>
          <a:p>
            <a:pPr>
              <a:lnSpc>
                <a:spcPts val="1800"/>
              </a:lnSpc>
              <a:defRPr>
                <a:latin typeface="Calibri"/>
              </a:defRPr>
            </a:pPr>
            <a:r>
              <a:rPr sz="900" b="1">
                <a:solidFill>
                  <a:srgbClr val="C62828"/>
                </a:solidFill>
                <a:latin typeface="Calibri"/>
              </a:rPr>
              <a:t>▶  </a:t>
            </a:r>
            <a:r>
              <a:rPr sz="1100" b="1">
                <a:solidFill>
                  <a:srgbClr val="C62828"/>
                </a:solidFill>
                <a:latin typeface="Calibri"/>
              </a:rPr>
              <a:t>Transfer Family cannot migrate database data to RDS or perform CDC replication</a:t>
            </a:r>
          </a:p>
          <a:p>
            <a:pPr>
              <a:lnSpc>
                <a:spcPts val="1800"/>
              </a:lnSpc>
              <a:defRPr>
                <a:latin typeface="Calibri"/>
              </a:defRPr>
            </a:pPr>
            <a:r>
              <a:rPr sz="1100">
                <a:solidFill>
                  <a:srgbClr val="757575"/>
                </a:solidFill>
                <a:latin typeface="Calibri"/>
              </a:rPr>
              <a:t>•  </a:t>
            </a:r>
            <a:r>
              <a:rPr sz="1100" b="0">
                <a:solidFill>
                  <a:srgbClr val="212121"/>
                </a:solidFill>
                <a:latin typeface="Calibri"/>
              </a:rPr>
              <a:t>DMS is the correct service for migrating database data to Amazon RDS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32F3E"/>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57200"/>
            <a:ext cx="10332720" cy="731520"/>
          </a:xfrm>
          <a:prstGeom prst="rect">
            <a:avLst/>
          </a:prstGeom>
          <a:noFill/>
        </p:spPr>
        <p:txBody>
          <a:bodyPr wrap="square">
            <a:spAutoFit/>
          </a:bodyPr>
          <a:lstStyle/>
          <a:p>
            <a:pPr algn="ctr">
              <a:defRPr sz="3600" b="1">
                <a:solidFill>
                  <a:srgbClr val="FFFFFF"/>
                </a:solidFill>
                <a:latin typeface="Calibri"/>
              </a:defRPr>
            </a:pPr>
            <a:r>
              <a:t>ANSWER KEY</a:t>
            </a:r>
          </a:p>
        </p:txBody>
      </p:sp>
      <p:sp>
        <p:nvSpPr>
          <p:cNvPr id="4" name="Rectangle 3"/>
          <p:cNvSpPr/>
          <p:nvPr/>
        </p:nvSpPr>
        <p:spPr>
          <a:xfrm>
            <a:off x="4754880" y="1188720"/>
            <a:ext cx="2651760" cy="36576"/>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10698480" cy="777240"/>
          </a:xfrm>
          <a:prstGeom prst="roundRect">
            <a:avLst/>
          </a:prstGeom>
          <a:solidFill>
            <a:srgbClr val="2C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4400" y="1783080"/>
            <a:ext cx="457200" cy="457200"/>
          </a:xfrm>
          <a:prstGeom prst="round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457200" cy="457200"/>
          </a:xfrm>
          <a:prstGeom prst="rect">
            <a:avLst/>
          </a:prstGeom>
          <a:noFill/>
        </p:spPr>
        <p:txBody>
          <a:bodyPr wrap="square">
            <a:spAutoFit/>
          </a:bodyPr>
          <a:lstStyle/>
          <a:p>
            <a:pPr algn="ctr">
              <a:defRPr sz="2000" b="1">
                <a:solidFill>
                  <a:srgbClr val="FFFFFF"/>
                </a:solidFill>
                <a:latin typeface="Calibri"/>
              </a:defRPr>
            </a:pPr>
            <a:r>
              <a:t>A</a:t>
            </a:r>
          </a:p>
        </p:txBody>
      </p:sp>
      <p:sp>
        <p:nvSpPr>
          <p:cNvPr id="8" name="TextBox 7"/>
          <p:cNvSpPr txBox="1"/>
          <p:nvPr/>
        </p:nvSpPr>
        <p:spPr>
          <a:xfrm>
            <a:off x="1645920" y="1737360"/>
            <a:ext cx="2926080" cy="320040"/>
          </a:xfrm>
          <a:prstGeom prst="rect">
            <a:avLst/>
          </a:prstGeom>
          <a:noFill/>
        </p:spPr>
        <p:txBody>
          <a:bodyPr wrap="square">
            <a:spAutoFit/>
          </a:bodyPr>
          <a:lstStyle/>
          <a:p>
            <a:pPr algn="l">
              <a:defRPr sz="1600" b="1">
                <a:solidFill>
                  <a:srgbClr val="FFFFFF"/>
                </a:solidFill>
                <a:latin typeface="Calibri"/>
              </a:defRPr>
            </a:pPr>
            <a:r>
              <a:t>DMS Only</a:t>
            </a:r>
          </a:p>
        </p:txBody>
      </p:sp>
      <p:sp>
        <p:nvSpPr>
          <p:cNvPr id="9" name="Rounded Rectangle 8"/>
          <p:cNvSpPr/>
          <p:nvPr/>
        </p:nvSpPr>
        <p:spPr>
          <a:xfrm>
            <a:off x="4754880" y="1810512"/>
            <a:ext cx="1554480" cy="411480"/>
          </a:xfrm>
          <a:prstGeom prst="round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0" y="1810512"/>
            <a:ext cx="1554480" cy="411480"/>
          </a:xfrm>
          <a:prstGeom prst="rect">
            <a:avLst/>
          </a:prstGeom>
          <a:noFill/>
        </p:spPr>
        <p:txBody>
          <a:bodyPr wrap="square">
            <a:spAutoFit/>
          </a:bodyPr>
          <a:lstStyle/>
          <a:p>
            <a:pPr algn="ctr">
              <a:defRPr sz="1200" b="1">
                <a:solidFill>
                  <a:srgbClr val="FFFFFF"/>
                </a:solidFill>
                <a:latin typeface="Calibri"/>
              </a:defRPr>
            </a:pPr>
            <a:r>
              <a:t>INCORRECT</a:t>
            </a:r>
          </a:p>
        </p:txBody>
      </p:sp>
      <p:sp>
        <p:nvSpPr>
          <p:cNvPr id="11" name="TextBox 10"/>
          <p:cNvSpPr txBox="1"/>
          <p:nvPr/>
        </p:nvSpPr>
        <p:spPr>
          <a:xfrm>
            <a:off x="6583680" y="1737360"/>
            <a:ext cx="4663440" cy="594360"/>
          </a:xfrm>
          <a:prstGeom prst="rect">
            <a:avLst/>
          </a:prstGeom>
          <a:noFill/>
        </p:spPr>
        <p:txBody>
          <a:bodyPr wrap="square">
            <a:spAutoFit/>
          </a:bodyPr>
          <a:lstStyle/>
          <a:p>
            <a:pPr algn="l">
              <a:defRPr sz="1100" b="0">
                <a:solidFill>
                  <a:srgbClr val="F5F5F5"/>
                </a:solidFill>
                <a:latin typeface="Calibri"/>
              </a:defRPr>
            </a:pPr>
            <a:r>
              <a:t>DMS migrates data only — does not convert schema or scan application SQL.</a:t>
            </a:r>
          </a:p>
        </p:txBody>
      </p:sp>
      <p:sp>
        <p:nvSpPr>
          <p:cNvPr id="12" name="Rounded Rectangle 11"/>
          <p:cNvSpPr/>
          <p:nvPr/>
        </p:nvSpPr>
        <p:spPr>
          <a:xfrm>
            <a:off x="731520" y="2697480"/>
            <a:ext cx="10698480" cy="777240"/>
          </a:xfrm>
          <a:prstGeom prst="roundRect">
            <a:avLst/>
          </a:prstGeom>
          <a:solidFill>
            <a:srgbClr val="34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14400" y="2834640"/>
            <a:ext cx="457200" cy="457200"/>
          </a:xfrm>
          <a:prstGeom prst="round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834640"/>
            <a:ext cx="457200" cy="457200"/>
          </a:xfrm>
          <a:prstGeom prst="rect">
            <a:avLst/>
          </a:prstGeom>
          <a:noFill/>
        </p:spPr>
        <p:txBody>
          <a:bodyPr wrap="square">
            <a:spAutoFit/>
          </a:bodyPr>
          <a:lstStyle/>
          <a:p>
            <a:pPr algn="ctr">
              <a:defRPr sz="2000" b="1">
                <a:solidFill>
                  <a:srgbClr val="FFFFFF"/>
                </a:solidFill>
                <a:latin typeface="Calibri"/>
              </a:defRPr>
            </a:pPr>
            <a:r>
              <a:t>B</a:t>
            </a:r>
          </a:p>
        </p:txBody>
      </p:sp>
      <p:sp>
        <p:nvSpPr>
          <p:cNvPr id="15" name="TextBox 14"/>
          <p:cNvSpPr txBox="1"/>
          <p:nvPr/>
        </p:nvSpPr>
        <p:spPr>
          <a:xfrm>
            <a:off x="1645920" y="2788920"/>
            <a:ext cx="2926080" cy="320040"/>
          </a:xfrm>
          <a:prstGeom prst="rect">
            <a:avLst/>
          </a:prstGeom>
          <a:noFill/>
        </p:spPr>
        <p:txBody>
          <a:bodyPr wrap="square">
            <a:spAutoFit/>
          </a:bodyPr>
          <a:lstStyle/>
          <a:p>
            <a:pPr algn="l">
              <a:defRPr sz="1600" b="1">
                <a:solidFill>
                  <a:srgbClr val="FFFFFF"/>
                </a:solidFill>
                <a:latin typeface="Calibri"/>
              </a:defRPr>
            </a:pPr>
            <a:r>
              <a:t>Manual SQL + DMS</a:t>
            </a:r>
          </a:p>
        </p:txBody>
      </p:sp>
      <p:sp>
        <p:nvSpPr>
          <p:cNvPr id="16" name="Rounded Rectangle 15"/>
          <p:cNvSpPr/>
          <p:nvPr/>
        </p:nvSpPr>
        <p:spPr>
          <a:xfrm>
            <a:off x="4754880" y="2862072"/>
            <a:ext cx="1554480" cy="411480"/>
          </a:xfrm>
          <a:prstGeom prst="round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54880" y="2862072"/>
            <a:ext cx="1554480" cy="411480"/>
          </a:xfrm>
          <a:prstGeom prst="rect">
            <a:avLst/>
          </a:prstGeom>
          <a:noFill/>
        </p:spPr>
        <p:txBody>
          <a:bodyPr wrap="square">
            <a:spAutoFit/>
          </a:bodyPr>
          <a:lstStyle/>
          <a:p>
            <a:pPr algn="ctr">
              <a:defRPr sz="1200" b="1">
                <a:solidFill>
                  <a:srgbClr val="FFFFFF"/>
                </a:solidFill>
                <a:latin typeface="Calibri"/>
              </a:defRPr>
            </a:pPr>
            <a:r>
              <a:t>INCORRECT</a:t>
            </a:r>
          </a:p>
        </p:txBody>
      </p:sp>
      <p:sp>
        <p:nvSpPr>
          <p:cNvPr id="18" name="TextBox 17"/>
          <p:cNvSpPr txBox="1"/>
          <p:nvPr/>
        </p:nvSpPr>
        <p:spPr>
          <a:xfrm>
            <a:off x="6583680" y="2788920"/>
            <a:ext cx="4663440" cy="594360"/>
          </a:xfrm>
          <a:prstGeom prst="rect">
            <a:avLst/>
          </a:prstGeom>
          <a:noFill/>
        </p:spPr>
        <p:txBody>
          <a:bodyPr wrap="square">
            <a:spAutoFit/>
          </a:bodyPr>
          <a:lstStyle/>
          <a:p>
            <a:pPr algn="l">
              <a:defRPr sz="1100" b="0">
                <a:solidFill>
                  <a:srgbClr val="F5F5F5"/>
                </a:solidFill>
                <a:latin typeface="Calibri"/>
              </a:defRPr>
            </a:pPr>
            <a:r>
              <a:t>Manual scripts are error-prone and slow — SCT automates the entire conversion.</a:t>
            </a:r>
          </a:p>
        </p:txBody>
      </p:sp>
      <p:sp>
        <p:nvSpPr>
          <p:cNvPr id="19" name="Rounded Rectangle 18"/>
          <p:cNvSpPr/>
          <p:nvPr/>
        </p:nvSpPr>
        <p:spPr>
          <a:xfrm>
            <a:off x="731520" y="3749040"/>
            <a:ext cx="10698480" cy="777240"/>
          </a:xfrm>
          <a:prstGeom prst="roundRect">
            <a:avLst/>
          </a:prstGeom>
          <a:solidFill>
            <a:srgbClr val="2C3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14400" y="3886200"/>
            <a:ext cx="457200" cy="45720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886200"/>
            <a:ext cx="457200" cy="457200"/>
          </a:xfrm>
          <a:prstGeom prst="rect">
            <a:avLst/>
          </a:prstGeom>
          <a:noFill/>
        </p:spPr>
        <p:txBody>
          <a:bodyPr wrap="square">
            <a:spAutoFit/>
          </a:bodyPr>
          <a:lstStyle/>
          <a:p>
            <a:pPr algn="ctr">
              <a:defRPr sz="2000" b="1">
                <a:solidFill>
                  <a:srgbClr val="FFFFFF"/>
                </a:solidFill>
                <a:latin typeface="Calibri"/>
              </a:defRPr>
            </a:pPr>
            <a:r>
              <a:t>C</a:t>
            </a:r>
          </a:p>
        </p:txBody>
      </p:sp>
      <p:sp>
        <p:nvSpPr>
          <p:cNvPr id="22" name="TextBox 21"/>
          <p:cNvSpPr txBox="1"/>
          <p:nvPr/>
        </p:nvSpPr>
        <p:spPr>
          <a:xfrm>
            <a:off x="1645920" y="3840480"/>
            <a:ext cx="2926080" cy="320040"/>
          </a:xfrm>
          <a:prstGeom prst="rect">
            <a:avLst/>
          </a:prstGeom>
          <a:noFill/>
        </p:spPr>
        <p:txBody>
          <a:bodyPr wrap="square">
            <a:spAutoFit/>
          </a:bodyPr>
          <a:lstStyle/>
          <a:p>
            <a:pPr algn="l">
              <a:defRPr sz="1600" b="1">
                <a:solidFill>
                  <a:srgbClr val="FFFFFF"/>
                </a:solidFill>
                <a:latin typeface="Calibri"/>
              </a:defRPr>
            </a:pPr>
            <a:r>
              <a:t>SCT + DMS</a:t>
            </a:r>
          </a:p>
        </p:txBody>
      </p:sp>
      <p:sp>
        <p:nvSpPr>
          <p:cNvPr id="23" name="Rounded Rectangle 22"/>
          <p:cNvSpPr/>
          <p:nvPr/>
        </p:nvSpPr>
        <p:spPr>
          <a:xfrm>
            <a:off x="4754880" y="3913632"/>
            <a:ext cx="1554480" cy="41148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54880" y="3913632"/>
            <a:ext cx="1554480" cy="411480"/>
          </a:xfrm>
          <a:prstGeom prst="rect">
            <a:avLst/>
          </a:prstGeom>
          <a:noFill/>
        </p:spPr>
        <p:txBody>
          <a:bodyPr wrap="square">
            <a:spAutoFit/>
          </a:bodyPr>
          <a:lstStyle/>
          <a:p>
            <a:pPr algn="ctr">
              <a:defRPr sz="1200" b="1">
                <a:solidFill>
                  <a:srgbClr val="FFFFFF"/>
                </a:solidFill>
                <a:latin typeface="Calibri"/>
              </a:defRPr>
            </a:pPr>
            <a:r>
              <a:t>CORRECT</a:t>
            </a:r>
          </a:p>
        </p:txBody>
      </p:sp>
      <p:sp>
        <p:nvSpPr>
          <p:cNvPr id="25" name="TextBox 24"/>
          <p:cNvSpPr txBox="1"/>
          <p:nvPr/>
        </p:nvSpPr>
        <p:spPr>
          <a:xfrm>
            <a:off x="6583680" y="3840480"/>
            <a:ext cx="4663440" cy="594360"/>
          </a:xfrm>
          <a:prstGeom prst="rect">
            <a:avLst/>
          </a:prstGeom>
          <a:noFill/>
        </p:spPr>
        <p:txBody>
          <a:bodyPr wrap="square">
            <a:spAutoFit/>
          </a:bodyPr>
          <a:lstStyle/>
          <a:p>
            <a:pPr algn="l">
              <a:defRPr sz="1100" b="0">
                <a:solidFill>
                  <a:srgbClr val="F5F5F5"/>
                </a:solidFill>
                <a:latin typeface="Calibri"/>
              </a:defRPr>
            </a:pPr>
            <a:r>
              <a:t>SCT converts schema + scans app SQL; DMS migrates data — purpose-built combination.</a:t>
            </a:r>
          </a:p>
        </p:txBody>
      </p:sp>
      <p:sp>
        <p:nvSpPr>
          <p:cNvPr id="26" name="Rounded Rectangle 25"/>
          <p:cNvSpPr/>
          <p:nvPr/>
        </p:nvSpPr>
        <p:spPr>
          <a:xfrm>
            <a:off x="731520" y="4800600"/>
            <a:ext cx="10698480" cy="777240"/>
          </a:xfrm>
          <a:prstGeom prst="roundRect">
            <a:avLst/>
          </a:prstGeom>
          <a:solidFill>
            <a:srgbClr val="344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14400" y="4937760"/>
            <a:ext cx="457200" cy="457200"/>
          </a:xfrm>
          <a:prstGeom prst="round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4937760"/>
            <a:ext cx="457200" cy="457200"/>
          </a:xfrm>
          <a:prstGeom prst="rect">
            <a:avLst/>
          </a:prstGeom>
          <a:noFill/>
        </p:spPr>
        <p:txBody>
          <a:bodyPr wrap="square">
            <a:spAutoFit/>
          </a:bodyPr>
          <a:lstStyle/>
          <a:p>
            <a:pPr algn="ctr">
              <a:defRPr sz="2000" b="1">
                <a:solidFill>
                  <a:srgbClr val="FFFFFF"/>
                </a:solidFill>
                <a:latin typeface="Calibri"/>
              </a:defRPr>
            </a:pPr>
            <a:r>
              <a:t>D</a:t>
            </a:r>
          </a:p>
        </p:txBody>
      </p:sp>
      <p:sp>
        <p:nvSpPr>
          <p:cNvPr id="29" name="TextBox 28"/>
          <p:cNvSpPr txBox="1"/>
          <p:nvPr/>
        </p:nvSpPr>
        <p:spPr>
          <a:xfrm>
            <a:off x="1645920" y="4892040"/>
            <a:ext cx="2926080" cy="320040"/>
          </a:xfrm>
          <a:prstGeom prst="rect">
            <a:avLst/>
          </a:prstGeom>
          <a:noFill/>
        </p:spPr>
        <p:txBody>
          <a:bodyPr wrap="square">
            <a:spAutoFit/>
          </a:bodyPr>
          <a:lstStyle/>
          <a:p>
            <a:pPr algn="l">
              <a:defRPr sz="1600" b="1">
                <a:solidFill>
                  <a:srgbClr val="FFFFFF"/>
                </a:solidFill>
                <a:latin typeface="Calibri"/>
              </a:defRPr>
            </a:pPr>
            <a:r>
              <a:t>SCT + Transfer Family</a:t>
            </a:r>
          </a:p>
        </p:txBody>
      </p:sp>
      <p:sp>
        <p:nvSpPr>
          <p:cNvPr id="30" name="Rounded Rectangle 29"/>
          <p:cNvSpPr/>
          <p:nvPr/>
        </p:nvSpPr>
        <p:spPr>
          <a:xfrm>
            <a:off x="4754880" y="4965192"/>
            <a:ext cx="1554480" cy="411480"/>
          </a:xfrm>
          <a:prstGeom prst="round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54880" y="4965192"/>
            <a:ext cx="1554480" cy="411480"/>
          </a:xfrm>
          <a:prstGeom prst="rect">
            <a:avLst/>
          </a:prstGeom>
          <a:noFill/>
        </p:spPr>
        <p:txBody>
          <a:bodyPr wrap="square">
            <a:spAutoFit/>
          </a:bodyPr>
          <a:lstStyle/>
          <a:p>
            <a:pPr algn="ctr">
              <a:defRPr sz="1200" b="1">
                <a:solidFill>
                  <a:srgbClr val="FFFFFF"/>
                </a:solidFill>
                <a:latin typeface="Calibri"/>
              </a:defRPr>
            </a:pPr>
            <a:r>
              <a:t>INCORRECT</a:t>
            </a:r>
          </a:p>
        </p:txBody>
      </p:sp>
      <p:sp>
        <p:nvSpPr>
          <p:cNvPr id="32" name="TextBox 31"/>
          <p:cNvSpPr txBox="1"/>
          <p:nvPr/>
        </p:nvSpPr>
        <p:spPr>
          <a:xfrm>
            <a:off x="6583680" y="4892040"/>
            <a:ext cx="4663440" cy="594360"/>
          </a:xfrm>
          <a:prstGeom prst="rect">
            <a:avLst/>
          </a:prstGeom>
          <a:noFill/>
        </p:spPr>
        <p:txBody>
          <a:bodyPr wrap="square">
            <a:spAutoFit/>
          </a:bodyPr>
          <a:lstStyle/>
          <a:p>
            <a:pPr algn="l">
              <a:defRPr sz="1100" b="0">
                <a:solidFill>
                  <a:srgbClr val="F5F5F5"/>
                </a:solidFill>
                <a:latin typeface="Calibri"/>
              </a:defRPr>
            </a:pPr>
            <a:r>
              <a:t>Transfer Family is for FTP file transfers to S3 — not for database data migration.</a:t>
            </a:r>
          </a:p>
        </p:txBody>
      </p:sp>
      <p:sp>
        <p:nvSpPr>
          <p:cNvPr id="33" name="Rectangle 32"/>
          <p:cNvSpPr/>
          <p:nvPr/>
        </p:nvSpPr>
        <p:spPr>
          <a:xfrm>
            <a:off x="3200400" y="6309360"/>
            <a:ext cx="5760720" cy="411480"/>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00400" y="6309360"/>
            <a:ext cx="5760720" cy="411480"/>
          </a:xfrm>
          <a:prstGeom prst="rect">
            <a:avLst/>
          </a:prstGeom>
          <a:noFill/>
        </p:spPr>
        <p:txBody>
          <a:bodyPr wrap="square">
            <a:spAutoFit/>
          </a:bodyPr>
          <a:lstStyle/>
          <a:p>
            <a:pPr algn="ctr">
              <a:defRPr sz="1500" b="1">
                <a:solidFill>
                  <a:srgbClr val="232F3E"/>
                </a:solidFill>
                <a:latin typeface="Calibri"/>
              </a:defRPr>
            </a:pPr>
            <a:r>
              <a:t>Correct Answer:  C (AWS SCT + AWS DMS)</a:t>
            </a:r>
          </a:p>
        </p:txBody>
      </p:sp>
      <p:sp>
        <p:nvSpPr>
          <p:cNvPr id="35" name="Rectangle 34"/>
          <p:cNvSpPr/>
          <p:nvPr/>
        </p:nvSpPr>
        <p:spPr>
          <a:xfrm>
            <a:off x="0" y="6803136"/>
            <a:ext cx="12191695" cy="54864"/>
          </a:xfrm>
          <a:prstGeom prst="rect">
            <a:avLst/>
          </a:prstGeom>
          <a:solidFill>
            <a:srgbClr val="FF9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